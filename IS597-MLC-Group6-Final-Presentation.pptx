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A111C3-9CAD-514E-826F-96E08281EB9F}" type="doc">
      <dgm:prSet loTypeId="urn:microsoft.com/office/officeart/2005/8/layout/cycle4" loCatId="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EC95374D-D0C5-3243-9D6C-09D99B9C5BB4}">
      <dgm:prSet phldrT="[Text]"/>
      <dgm:spPr>
        <a:solidFill>
          <a:schemeClr val="bg1">
            <a:lumMod val="85000"/>
          </a:schemeClr>
        </a:solidFill>
        <a:ln w="44450">
          <a:solidFill>
            <a:srgbClr val="FF5F05"/>
          </a:solidFill>
        </a:ln>
      </dgm:spPr>
      <dgm:t>
        <a:bodyPr/>
        <a:lstStyle/>
        <a:p>
          <a:r>
            <a:rPr lang="en-US" b="1" dirty="0">
              <a:solidFill>
                <a:srgbClr val="13294B"/>
              </a:solidFill>
            </a:rPr>
            <a:t>Temporal Trends</a:t>
          </a:r>
        </a:p>
      </dgm:t>
    </dgm:pt>
    <dgm:pt modelId="{2DCBAAA5-9488-6E43-8D97-D6648D4D8811}" type="parTrans" cxnId="{EC0B91B7-0A70-AF41-B55D-FC088EA55715}">
      <dgm:prSet/>
      <dgm:spPr/>
      <dgm:t>
        <a:bodyPr/>
        <a:lstStyle/>
        <a:p>
          <a:endParaRPr lang="en-US"/>
        </a:p>
      </dgm:t>
    </dgm:pt>
    <dgm:pt modelId="{EF72632F-BC77-064E-99F6-4EBA0D896F2A}" type="sibTrans" cxnId="{EC0B91B7-0A70-AF41-B55D-FC088EA55715}">
      <dgm:prSet/>
      <dgm:spPr/>
      <dgm:t>
        <a:bodyPr/>
        <a:lstStyle/>
        <a:p>
          <a:endParaRPr lang="en-US"/>
        </a:p>
      </dgm:t>
    </dgm:pt>
    <dgm:pt modelId="{312DF971-2B21-C34E-BD61-7896C195B6BB}">
      <dgm:prSet phldrT="[Text]" custT="1"/>
      <dgm:spPr/>
      <dgm:t>
        <a:bodyPr/>
        <a:lstStyle/>
        <a:p>
          <a:pPr>
            <a:buNone/>
          </a:pPr>
          <a:r>
            <a:rPr lang="en-US" sz="800" b="1" i="0" u="none" dirty="0"/>
            <a:t>Crime declined since 2016 with COVID-19 dip (2020-21). Strong seasonality: peaks June-August, drops in winter. Highest activity Friday-Saturday, 6 PM-midnight.</a:t>
          </a:r>
          <a:endParaRPr lang="en-US" sz="800" b="1" dirty="0"/>
        </a:p>
      </dgm:t>
    </dgm:pt>
    <dgm:pt modelId="{6C04ABFE-B0A4-3D4A-9C7A-96D4848C0BFA}" type="parTrans" cxnId="{88263C1B-4430-6D42-9300-159AC3693714}">
      <dgm:prSet/>
      <dgm:spPr/>
      <dgm:t>
        <a:bodyPr/>
        <a:lstStyle/>
        <a:p>
          <a:endParaRPr lang="en-US"/>
        </a:p>
      </dgm:t>
    </dgm:pt>
    <dgm:pt modelId="{67117AB2-089E-654A-8CB1-CE4642062EC1}" type="sibTrans" cxnId="{88263C1B-4430-6D42-9300-159AC3693714}">
      <dgm:prSet/>
      <dgm:spPr/>
      <dgm:t>
        <a:bodyPr/>
        <a:lstStyle/>
        <a:p>
          <a:endParaRPr lang="en-US"/>
        </a:p>
      </dgm:t>
    </dgm:pt>
    <dgm:pt modelId="{8DE0D785-609B-9B40-9031-146A1B3AAD28}">
      <dgm:prSet phldrT="[Text]"/>
      <dgm:spPr>
        <a:solidFill>
          <a:schemeClr val="bg1">
            <a:lumMod val="75000"/>
          </a:schemeClr>
        </a:solidFill>
        <a:ln w="44450">
          <a:solidFill>
            <a:srgbClr val="FF5F05"/>
          </a:solidFill>
        </a:ln>
      </dgm:spPr>
      <dgm:t>
        <a:bodyPr/>
        <a:lstStyle/>
        <a:p>
          <a:r>
            <a:rPr lang="en-US" b="1" dirty="0">
              <a:solidFill>
                <a:srgbClr val="13294B"/>
              </a:solidFill>
            </a:rPr>
            <a:t>Spatial Hotspots</a:t>
          </a:r>
        </a:p>
      </dgm:t>
    </dgm:pt>
    <dgm:pt modelId="{6531C603-588A-1049-9366-3AE55E79C535}" type="parTrans" cxnId="{38428E00-94AE-5845-8C31-86575C705FA9}">
      <dgm:prSet/>
      <dgm:spPr/>
      <dgm:t>
        <a:bodyPr/>
        <a:lstStyle/>
        <a:p>
          <a:endParaRPr lang="en-US"/>
        </a:p>
      </dgm:t>
    </dgm:pt>
    <dgm:pt modelId="{A7A795BB-1749-E044-9360-732FE10D17E9}" type="sibTrans" cxnId="{38428E00-94AE-5845-8C31-86575C705FA9}">
      <dgm:prSet/>
      <dgm:spPr/>
      <dgm:t>
        <a:bodyPr/>
        <a:lstStyle/>
        <a:p>
          <a:endParaRPr lang="en-US"/>
        </a:p>
      </dgm:t>
    </dgm:pt>
    <dgm:pt modelId="{4C78AF9A-0FB4-264D-9332-5646931FD1A4}">
      <dgm:prSet phldrT="[Text]" custT="1"/>
      <dgm:spPr/>
      <dgm:t>
        <a:bodyPr/>
        <a:lstStyle/>
        <a:p>
          <a:pPr>
            <a:buNone/>
          </a:pPr>
          <a:r>
            <a:rPr lang="en-US" sz="800" b="1" i="0" u="none" dirty="0"/>
            <a:t>Persistent concentration in Districts 11, 8, 6 and Wards 42, 28 (West/South Chicago). Reflects historical socioeconomic disparities.</a:t>
          </a:r>
          <a:endParaRPr lang="en-US" sz="800" b="1" dirty="0"/>
        </a:p>
      </dgm:t>
    </dgm:pt>
    <dgm:pt modelId="{963BA567-E52C-714D-80B0-E1A70E3ED090}" type="parTrans" cxnId="{8A168DDB-5BA0-3C43-BDDD-60CEC8357A03}">
      <dgm:prSet/>
      <dgm:spPr/>
      <dgm:t>
        <a:bodyPr/>
        <a:lstStyle/>
        <a:p>
          <a:endParaRPr lang="en-US"/>
        </a:p>
      </dgm:t>
    </dgm:pt>
    <dgm:pt modelId="{129EF47A-2CE0-3A4F-ABB8-E834C30EBFE6}" type="sibTrans" cxnId="{8A168DDB-5BA0-3C43-BDDD-60CEC8357A03}">
      <dgm:prSet/>
      <dgm:spPr/>
      <dgm:t>
        <a:bodyPr/>
        <a:lstStyle/>
        <a:p>
          <a:endParaRPr lang="en-US"/>
        </a:p>
      </dgm:t>
    </dgm:pt>
    <dgm:pt modelId="{FAC35322-6B75-9B45-9902-8AD5F0473C33}">
      <dgm:prSet phldrT="[Text]"/>
      <dgm:spPr>
        <a:solidFill>
          <a:schemeClr val="bg1">
            <a:lumMod val="50000"/>
          </a:schemeClr>
        </a:solidFill>
        <a:ln w="44450">
          <a:solidFill>
            <a:srgbClr val="FF5F05"/>
          </a:solidFill>
        </a:ln>
      </dgm:spPr>
      <dgm:t>
        <a:bodyPr/>
        <a:lstStyle/>
        <a:p>
          <a:r>
            <a:rPr lang="en-US" b="1" dirty="0">
              <a:solidFill>
                <a:srgbClr val="13294B"/>
              </a:solidFill>
            </a:rPr>
            <a:t>Media Analysis</a:t>
          </a:r>
        </a:p>
      </dgm:t>
    </dgm:pt>
    <dgm:pt modelId="{1A0F675A-50ED-DD49-B133-FDFFB7CF808E}" type="parTrans" cxnId="{6FDF0CF6-EE3F-9D47-A3BE-19194391744D}">
      <dgm:prSet/>
      <dgm:spPr/>
      <dgm:t>
        <a:bodyPr/>
        <a:lstStyle/>
        <a:p>
          <a:endParaRPr lang="en-US"/>
        </a:p>
      </dgm:t>
    </dgm:pt>
    <dgm:pt modelId="{6B4D33AB-511F-F94B-A4CB-7D425E99A20B}" type="sibTrans" cxnId="{6FDF0CF6-EE3F-9D47-A3BE-19194391744D}">
      <dgm:prSet/>
      <dgm:spPr/>
      <dgm:t>
        <a:bodyPr/>
        <a:lstStyle/>
        <a:p>
          <a:endParaRPr lang="en-US"/>
        </a:p>
      </dgm:t>
    </dgm:pt>
    <dgm:pt modelId="{6849733B-6CB9-EE43-AA58-AF3271467C72}">
      <dgm:prSet phldrT="[Text]"/>
      <dgm:spPr>
        <a:solidFill>
          <a:schemeClr val="bg1">
            <a:lumMod val="65000"/>
          </a:schemeClr>
        </a:solidFill>
        <a:ln w="44450">
          <a:solidFill>
            <a:srgbClr val="FF5F05"/>
          </a:solidFill>
        </a:ln>
      </dgm:spPr>
      <dgm:t>
        <a:bodyPr/>
        <a:lstStyle/>
        <a:p>
          <a:r>
            <a:rPr lang="en-US" b="1" dirty="0">
              <a:solidFill>
                <a:srgbClr val="13294B"/>
              </a:solidFill>
            </a:rPr>
            <a:t>Crime Categories</a:t>
          </a:r>
        </a:p>
      </dgm:t>
    </dgm:pt>
    <dgm:pt modelId="{FB317454-1BB9-AA4A-8AFD-FCE4047B74C9}" type="parTrans" cxnId="{EBE421D3-3C8E-8746-A1FD-83C872F8BABA}">
      <dgm:prSet/>
      <dgm:spPr/>
      <dgm:t>
        <a:bodyPr/>
        <a:lstStyle/>
        <a:p>
          <a:endParaRPr lang="en-US"/>
        </a:p>
      </dgm:t>
    </dgm:pt>
    <dgm:pt modelId="{6D4E9980-EF2E-7147-9994-5F6042F2DD29}" type="sibTrans" cxnId="{EBE421D3-3C8E-8746-A1FD-83C872F8BABA}">
      <dgm:prSet/>
      <dgm:spPr/>
      <dgm:t>
        <a:bodyPr/>
        <a:lstStyle/>
        <a:p>
          <a:endParaRPr lang="en-US"/>
        </a:p>
      </dgm:t>
    </dgm:pt>
    <dgm:pt modelId="{004D23FE-D45A-0E48-B200-896981126AE6}">
      <dgm:prSet phldrT="[Text]" custT="1"/>
      <dgm:spPr/>
      <dgm:t>
        <a:bodyPr/>
        <a:lstStyle/>
        <a:p>
          <a:pPr>
            <a:buNone/>
          </a:pPr>
          <a:r>
            <a:rPr lang="en-US" sz="800" b="1" i="0" u="none" dirty="0"/>
            <a:t>Top types: Theft, Battery, Criminal Damage (~50% of incidents). Streets, apartments, residences are primary locations. Only ~25% arrest rate overall.</a:t>
          </a:r>
          <a:endParaRPr lang="en-US" sz="800" b="1" dirty="0"/>
        </a:p>
      </dgm:t>
    </dgm:pt>
    <dgm:pt modelId="{C64A36F7-8B96-CC45-B785-49AB0AC3BAAA}" type="parTrans" cxnId="{A90EBF2E-293B-8F43-AB4D-4B43202ED1E8}">
      <dgm:prSet/>
      <dgm:spPr/>
      <dgm:t>
        <a:bodyPr/>
        <a:lstStyle/>
        <a:p>
          <a:endParaRPr lang="en-US"/>
        </a:p>
      </dgm:t>
    </dgm:pt>
    <dgm:pt modelId="{B05EFA72-8730-B641-B6BE-40FDF1019833}" type="sibTrans" cxnId="{A90EBF2E-293B-8F43-AB4D-4B43202ED1E8}">
      <dgm:prSet/>
      <dgm:spPr/>
      <dgm:t>
        <a:bodyPr/>
        <a:lstStyle/>
        <a:p>
          <a:endParaRPr lang="en-US"/>
        </a:p>
      </dgm:t>
    </dgm:pt>
    <dgm:pt modelId="{505455A4-4D59-6449-9546-221160649B27}">
      <dgm:prSet phldrT="[Text]" custT="1"/>
      <dgm:spPr/>
      <dgm:t>
        <a:bodyPr/>
        <a:lstStyle/>
        <a:p>
          <a:pPr>
            <a:buNone/>
          </a:pPr>
          <a:r>
            <a:rPr lang="en-US" sz="800" b="1" i="0" u="none" dirty="0"/>
            <a:t>   Moderate correlation with crime rates; slightly negative, reactive coverage.</a:t>
          </a:r>
          <a:endParaRPr lang="en-US" sz="800" b="1" dirty="0"/>
        </a:p>
      </dgm:t>
    </dgm:pt>
    <dgm:pt modelId="{9A32377A-A91E-5546-BD15-0BACF146C87D}" type="parTrans" cxnId="{CC2D419C-994C-0943-9833-A9A7A1543A9D}">
      <dgm:prSet/>
      <dgm:spPr/>
      <dgm:t>
        <a:bodyPr/>
        <a:lstStyle/>
        <a:p>
          <a:endParaRPr lang="en-US"/>
        </a:p>
      </dgm:t>
    </dgm:pt>
    <dgm:pt modelId="{0736487E-C9BB-544E-97BC-B94DB9A2E3A3}" type="sibTrans" cxnId="{CC2D419C-994C-0943-9833-A9A7A1543A9D}">
      <dgm:prSet/>
      <dgm:spPr/>
      <dgm:t>
        <a:bodyPr/>
        <a:lstStyle/>
        <a:p>
          <a:endParaRPr lang="en-US"/>
        </a:p>
      </dgm:t>
    </dgm:pt>
    <dgm:pt modelId="{7B5DA441-1A86-784D-8067-394EB94E83D2}">
      <dgm:prSet phldrT="[Text]" custT="1"/>
      <dgm:spPr/>
      <dgm:t>
        <a:bodyPr/>
        <a:lstStyle/>
        <a:p>
          <a:pPr>
            <a:buNone/>
          </a:pPr>
          <a:endParaRPr lang="en-US" sz="800" b="1" dirty="0"/>
        </a:p>
      </dgm:t>
    </dgm:pt>
    <dgm:pt modelId="{109076FD-EF6A-304A-AA4C-B50225EAC446}" type="parTrans" cxnId="{2EC04749-09EC-BA4E-856F-9CFCA2357BDC}">
      <dgm:prSet/>
      <dgm:spPr/>
      <dgm:t>
        <a:bodyPr/>
        <a:lstStyle/>
        <a:p>
          <a:endParaRPr lang="en-US"/>
        </a:p>
      </dgm:t>
    </dgm:pt>
    <dgm:pt modelId="{17D9C078-875A-C04B-9838-C5EE7BA8C5FA}" type="sibTrans" cxnId="{2EC04749-09EC-BA4E-856F-9CFCA2357BDC}">
      <dgm:prSet/>
      <dgm:spPr/>
      <dgm:t>
        <a:bodyPr/>
        <a:lstStyle/>
        <a:p>
          <a:endParaRPr lang="en-US"/>
        </a:p>
      </dgm:t>
    </dgm:pt>
    <dgm:pt modelId="{7A2C9E4F-A6CB-E94C-947D-140FDA38DABB}">
      <dgm:prSet phldrT="[Text]" custT="1"/>
      <dgm:spPr/>
      <dgm:t>
        <a:bodyPr/>
        <a:lstStyle/>
        <a:p>
          <a:pPr>
            <a:buNone/>
          </a:pPr>
          <a:endParaRPr lang="en-US" sz="800" b="1" dirty="0"/>
        </a:p>
      </dgm:t>
    </dgm:pt>
    <dgm:pt modelId="{6AAB8F8C-87CF-684F-BA1E-8B8B921B83D4}" type="parTrans" cxnId="{44C9EDE5-472C-3B47-84AF-4AED40665EF1}">
      <dgm:prSet/>
      <dgm:spPr/>
      <dgm:t>
        <a:bodyPr/>
        <a:lstStyle/>
        <a:p>
          <a:endParaRPr lang="en-US"/>
        </a:p>
      </dgm:t>
    </dgm:pt>
    <dgm:pt modelId="{CDD28BDB-51AE-6643-B71D-B22CCA253908}" type="sibTrans" cxnId="{44C9EDE5-472C-3B47-84AF-4AED40665EF1}">
      <dgm:prSet/>
      <dgm:spPr/>
      <dgm:t>
        <a:bodyPr/>
        <a:lstStyle/>
        <a:p>
          <a:endParaRPr lang="en-US"/>
        </a:p>
      </dgm:t>
    </dgm:pt>
    <dgm:pt modelId="{981B5F98-6266-6741-B3AF-016C3E1A5710}">
      <dgm:prSet phldrT="[Text]" custT="1"/>
      <dgm:spPr/>
      <dgm:t>
        <a:bodyPr/>
        <a:lstStyle/>
        <a:p>
          <a:pPr>
            <a:buNone/>
          </a:pPr>
          <a:endParaRPr lang="en-US" sz="800" b="1" dirty="0"/>
        </a:p>
      </dgm:t>
    </dgm:pt>
    <dgm:pt modelId="{2B36C6EF-4C46-954C-B99A-D77D65134136}" type="parTrans" cxnId="{5DBAE3D8-3A40-7C41-B067-4C47E678764B}">
      <dgm:prSet/>
      <dgm:spPr/>
      <dgm:t>
        <a:bodyPr/>
        <a:lstStyle/>
        <a:p>
          <a:endParaRPr lang="en-US"/>
        </a:p>
      </dgm:t>
    </dgm:pt>
    <dgm:pt modelId="{614EC071-07A8-1446-AE3E-58E8589B3287}" type="sibTrans" cxnId="{5DBAE3D8-3A40-7C41-B067-4C47E678764B}">
      <dgm:prSet/>
      <dgm:spPr/>
      <dgm:t>
        <a:bodyPr/>
        <a:lstStyle/>
        <a:p>
          <a:endParaRPr lang="en-US"/>
        </a:p>
      </dgm:t>
    </dgm:pt>
    <dgm:pt modelId="{11922E66-A134-7642-95FD-FFE6AF74E386}" type="pres">
      <dgm:prSet presAssocID="{C1A111C3-9CAD-514E-826F-96E08281EB9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F24C2FAE-9400-7A4F-966C-0E7FD6AC6564}" type="pres">
      <dgm:prSet presAssocID="{C1A111C3-9CAD-514E-826F-96E08281EB9F}" presName="children" presStyleCnt="0"/>
      <dgm:spPr/>
    </dgm:pt>
    <dgm:pt modelId="{349578CB-363A-BB40-9655-00585BB38402}" type="pres">
      <dgm:prSet presAssocID="{C1A111C3-9CAD-514E-826F-96E08281EB9F}" presName="child1group" presStyleCnt="0"/>
      <dgm:spPr/>
    </dgm:pt>
    <dgm:pt modelId="{29D39189-29CD-304A-9EEE-71813D218792}" type="pres">
      <dgm:prSet presAssocID="{C1A111C3-9CAD-514E-826F-96E08281EB9F}" presName="child1" presStyleLbl="bgAcc1" presStyleIdx="0" presStyleCnt="4" custScaleX="122802"/>
      <dgm:spPr/>
    </dgm:pt>
    <dgm:pt modelId="{49CA27F3-4053-7444-ABC0-5892926FEC01}" type="pres">
      <dgm:prSet presAssocID="{C1A111C3-9CAD-514E-826F-96E08281EB9F}" presName="child1Text" presStyleLbl="bgAcc1" presStyleIdx="0" presStyleCnt="4">
        <dgm:presLayoutVars>
          <dgm:bulletEnabled val="1"/>
        </dgm:presLayoutVars>
      </dgm:prSet>
      <dgm:spPr/>
    </dgm:pt>
    <dgm:pt modelId="{AF81D54B-9CB2-A04E-BDC5-A89BAB97F87D}" type="pres">
      <dgm:prSet presAssocID="{C1A111C3-9CAD-514E-826F-96E08281EB9F}" presName="child2group" presStyleCnt="0"/>
      <dgm:spPr/>
    </dgm:pt>
    <dgm:pt modelId="{AC9B683E-0AEB-BC4E-B9C2-B206FE647F9D}" type="pres">
      <dgm:prSet presAssocID="{C1A111C3-9CAD-514E-826F-96E08281EB9F}" presName="child2" presStyleLbl="bgAcc1" presStyleIdx="1" presStyleCnt="4" custScaleX="123790"/>
      <dgm:spPr/>
    </dgm:pt>
    <dgm:pt modelId="{40A85B9C-F4ED-6346-BB47-7E5D40535AF8}" type="pres">
      <dgm:prSet presAssocID="{C1A111C3-9CAD-514E-826F-96E08281EB9F}" presName="child2Text" presStyleLbl="bgAcc1" presStyleIdx="1" presStyleCnt="4">
        <dgm:presLayoutVars>
          <dgm:bulletEnabled val="1"/>
        </dgm:presLayoutVars>
      </dgm:prSet>
      <dgm:spPr/>
    </dgm:pt>
    <dgm:pt modelId="{86D855B7-428A-8E42-ADDD-AAB2F7FA1313}" type="pres">
      <dgm:prSet presAssocID="{C1A111C3-9CAD-514E-826F-96E08281EB9F}" presName="child3group" presStyleCnt="0"/>
      <dgm:spPr/>
    </dgm:pt>
    <dgm:pt modelId="{791627F8-4471-664E-86A4-B236FD70220B}" type="pres">
      <dgm:prSet presAssocID="{C1A111C3-9CAD-514E-826F-96E08281EB9F}" presName="child3" presStyleLbl="bgAcc1" presStyleIdx="2" presStyleCnt="4" custScaleX="131733" custScaleY="111105" custLinFactNeighborX="-4785" custLinFactNeighborY="-4104"/>
      <dgm:spPr/>
    </dgm:pt>
    <dgm:pt modelId="{DF19172D-F361-2846-A607-12F7E9EA7C1D}" type="pres">
      <dgm:prSet presAssocID="{C1A111C3-9CAD-514E-826F-96E08281EB9F}" presName="child3Text" presStyleLbl="bgAcc1" presStyleIdx="2" presStyleCnt="4">
        <dgm:presLayoutVars>
          <dgm:bulletEnabled val="1"/>
        </dgm:presLayoutVars>
      </dgm:prSet>
      <dgm:spPr/>
    </dgm:pt>
    <dgm:pt modelId="{B06C91C0-3B4B-0B4F-B08F-0AA702B69779}" type="pres">
      <dgm:prSet presAssocID="{C1A111C3-9CAD-514E-826F-96E08281EB9F}" presName="child4group" presStyleCnt="0"/>
      <dgm:spPr/>
    </dgm:pt>
    <dgm:pt modelId="{C913E6C7-BC38-074D-96D5-27854CE53FF7}" type="pres">
      <dgm:prSet presAssocID="{C1A111C3-9CAD-514E-826F-96E08281EB9F}" presName="child4" presStyleLbl="bgAcc1" presStyleIdx="3" presStyleCnt="4" custScaleX="126066"/>
      <dgm:spPr/>
    </dgm:pt>
    <dgm:pt modelId="{964DB9E0-31A6-3147-AC67-7C64193552CA}" type="pres">
      <dgm:prSet presAssocID="{C1A111C3-9CAD-514E-826F-96E08281EB9F}" presName="child4Text" presStyleLbl="bgAcc1" presStyleIdx="3" presStyleCnt="4">
        <dgm:presLayoutVars>
          <dgm:bulletEnabled val="1"/>
        </dgm:presLayoutVars>
      </dgm:prSet>
      <dgm:spPr/>
    </dgm:pt>
    <dgm:pt modelId="{7E288BE9-CFC7-8C47-BDA9-5F69E328D543}" type="pres">
      <dgm:prSet presAssocID="{C1A111C3-9CAD-514E-826F-96E08281EB9F}" presName="childPlaceholder" presStyleCnt="0"/>
      <dgm:spPr/>
    </dgm:pt>
    <dgm:pt modelId="{CC6DDA81-D8BF-D848-ACA9-AC35CBAED19C}" type="pres">
      <dgm:prSet presAssocID="{C1A111C3-9CAD-514E-826F-96E08281EB9F}" presName="circle" presStyleCnt="0"/>
      <dgm:spPr/>
    </dgm:pt>
    <dgm:pt modelId="{674E3AB5-B5D8-3045-9573-3D84F075124C}" type="pres">
      <dgm:prSet presAssocID="{C1A111C3-9CAD-514E-826F-96E08281EB9F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93E0B24-20BA-614A-82E8-84E71B4640BC}" type="pres">
      <dgm:prSet presAssocID="{C1A111C3-9CAD-514E-826F-96E08281EB9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F95B64E0-DC83-A543-9982-A6CDAA31A722}" type="pres">
      <dgm:prSet presAssocID="{C1A111C3-9CAD-514E-826F-96E08281EB9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05B89AA-EAE8-7341-8D4E-0A1F7026ACC7}" type="pres">
      <dgm:prSet presAssocID="{C1A111C3-9CAD-514E-826F-96E08281EB9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E75C596-4834-6A4F-9089-B3E85DB493A2}" type="pres">
      <dgm:prSet presAssocID="{C1A111C3-9CAD-514E-826F-96E08281EB9F}" presName="quadrantPlaceholder" presStyleCnt="0"/>
      <dgm:spPr/>
    </dgm:pt>
    <dgm:pt modelId="{14B680DB-9EBF-E942-9A96-9848F13F855B}" type="pres">
      <dgm:prSet presAssocID="{C1A111C3-9CAD-514E-826F-96E08281EB9F}" presName="center1" presStyleLbl="fgShp" presStyleIdx="0" presStyleCnt="2" custLinFactX="150854" custLinFactNeighborX="200000" custLinFactNeighborY="-30994"/>
      <dgm:spPr>
        <a:noFill/>
      </dgm:spPr>
    </dgm:pt>
    <dgm:pt modelId="{DA6BC331-29E7-144D-B7D8-E05D4CDFD346}" type="pres">
      <dgm:prSet presAssocID="{C1A111C3-9CAD-514E-826F-96E08281EB9F}" presName="center2" presStyleLbl="fgShp" presStyleIdx="1" presStyleCnt="2" custScaleX="99812" custScaleY="74345" custLinFactX="167405" custLinFactNeighborX="200000" custLinFactNeighborY="-53931"/>
      <dgm:spPr>
        <a:noFill/>
      </dgm:spPr>
    </dgm:pt>
  </dgm:ptLst>
  <dgm:cxnLst>
    <dgm:cxn modelId="{38428E00-94AE-5845-8C31-86575C705FA9}" srcId="{C1A111C3-9CAD-514E-826F-96E08281EB9F}" destId="{8DE0D785-609B-9B40-9031-146A1B3AAD28}" srcOrd="1" destOrd="0" parTransId="{6531C603-588A-1049-9366-3AE55E79C535}" sibTransId="{A7A795BB-1749-E044-9360-732FE10D17E9}"/>
    <dgm:cxn modelId="{3352B808-5E2B-4941-A090-016611E5912D}" type="presOf" srcId="{8DE0D785-609B-9B40-9031-146A1B3AAD28}" destId="{D93E0B24-20BA-614A-82E8-84E71B4640BC}" srcOrd="0" destOrd="0" presId="urn:microsoft.com/office/officeart/2005/8/layout/cycle4"/>
    <dgm:cxn modelId="{EBFD460F-616A-A04B-BF6C-BB0B726CE119}" type="presOf" srcId="{505455A4-4D59-6449-9546-221160649B27}" destId="{791627F8-4471-664E-86A4-B236FD70220B}" srcOrd="0" destOrd="3" presId="urn:microsoft.com/office/officeart/2005/8/layout/cycle4"/>
    <dgm:cxn modelId="{88263C1B-4430-6D42-9300-159AC3693714}" srcId="{EC95374D-D0C5-3243-9D6C-09D99B9C5BB4}" destId="{312DF971-2B21-C34E-BD61-7896C195B6BB}" srcOrd="0" destOrd="0" parTransId="{6C04ABFE-B0A4-3D4A-9C7A-96D4848C0BFA}" sibTransId="{67117AB2-089E-654A-8CB1-CE4642062EC1}"/>
    <dgm:cxn modelId="{A90EBF2E-293B-8F43-AB4D-4B43202ED1E8}" srcId="{6849733B-6CB9-EE43-AA58-AF3271467C72}" destId="{004D23FE-D45A-0E48-B200-896981126AE6}" srcOrd="0" destOrd="0" parTransId="{C64A36F7-8B96-CC45-B785-49AB0AC3BAAA}" sibTransId="{B05EFA72-8730-B641-B6BE-40FDF1019833}"/>
    <dgm:cxn modelId="{72FCBE32-0F4D-E54E-B9E7-92B403924A3A}" type="presOf" srcId="{EC95374D-D0C5-3243-9D6C-09D99B9C5BB4}" destId="{674E3AB5-B5D8-3045-9573-3D84F075124C}" srcOrd="0" destOrd="0" presId="urn:microsoft.com/office/officeart/2005/8/layout/cycle4"/>
    <dgm:cxn modelId="{1529515B-53EC-EC41-B432-C510F73C9A8D}" type="presOf" srcId="{4C78AF9A-0FB4-264D-9332-5646931FD1A4}" destId="{AC9B683E-0AEB-BC4E-B9C2-B206FE647F9D}" srcOrd="0" destOrd="0" presId="urn:microsoft.com/office/officeart/2005/8/layout/cycle4"/>
    <dgm:cxn modelId="{D2B55B42-5CD9-7744-A4FD-FC1FD2EF2482}" type="presOf" srcId="{C1A111C3-9CAD-514E-826F-96E08281EB9F}" destId="{11922E66-A134-7642-95FD-FFE6AF74E386}" srcOrd="0" destOrd="0" presId="urn:microsoft.com/office/officeart/2005/8/layout/cycle4"/>
    <dgm:cxn modelId="{B7500045-D66C-F742-95F1-90471F89965B}" type="presOf" srcId="{6849733B-6CB9-EE43-AA58-AF3271467C72}" destId="{805B89AA-EAE8-7341-8D4E-0A1F7026ACC7}" srcOrd="0" destOrd="0" presId="urn:microsoft.com/office/officeart/2005/8/layout/cycle4"/>
    <dgm:cxn modelId="{2EC04749-09EC-BA4E-856F-9CFCA2357BDC}" srcId="{FAC35322-6B75-9B45-9902-8AD5F0473C33}" destId="{7B5DA441-1A86-784D-8067-394EB94E83D2}" srcOrd="0" destOrd="0" parTransId="{109076FD-EF6A-304A-AA4C-B50225EAC446}" sibTransId="{17D9C078-875A-C04B-9838-C5EE7BA8C5FA}"/>
    <dgm:cxn modelId="{C16EAE6C-FCA9-C44C-AA5C-D421FD6706B1}" type="presOf" srcId="{7A2C9E4F-A6CB-E94C-947D-140FDA38DABB}" destId="{DF19172D-F361-2846-A607-12F7E9EA7C1D}" srcOrd="1" destOrd="1" presId="urn:microsoft.com/office/officeart/2005/8/layout/cycle4"/>
    <dgm:cxn modelId="{1D816191-1B7E-6D4A-BCE5-7848ABBCA285}" type="presOf" srcId="{312DF971-2B21-C34E-BD61-7896C195B6BB}" destId="{29D39189-29CD-304A-9EEE-71813D218792}" srcOrd="0" destOrd="0" presId="urn:microsoft.com/office/officeart/2005/8/layout/cycle4"/>
    <dgm:cxn modelId="{8ACAA899-DF21-C14D-AAD3-ADB13974FBF0}" type="presOf" srcId="{FAC35322-6B75-9B45-9902-8AD5F0473C33}" destId="{F95B64E0-DC83-A543-9982-A6CDAA31A722}" srcOrd="0" destOrd="0" presId="urn:microsoft.com/office/officeart/2005/8/layout/cycle4"/>
    <dgm:cxn modelId="{CC2D419C-994C-0943-9833-A9A7A1543A9D}" srcId="{FAC35322-6B75-9B45-9902-8AD5F0473C33}" destId="{505455A4-4D59-6449-9546-221160649B27}" srcOrd="3" destOrd="0" parTransId="{9A32377A-A91E-5546-BD15-0BACF146C87D}" sibTransId="{0736487E-C9BB-544E-97BC-B94DB9A2E3A3}"/>
    <dgm:cxn modelId="{C2C240A1-D40F-694A-B7AC-2688539C52A8}" type="presOf" srcId="{004D23FE-D45A-0E48-B200-896981126AE6}" destId="{C913E6C7-BC38-074D-96D5-27854CE53FF7}" srcOrd="0" destOrd="0" presId="urn:microsoft.com/office/officeart/2005/8/layout/cycle4"/>
    <dgm:cxn modelId="{EEA7F5AA-C08F-D34E-93D1-4E261058BA62}" type="presOf" srcId="{004D23FE-D45A-0E48-B200-896981126AE6}" destId="{964DB9E0-31A6-3147-AC67-7C64193552CA}" srcOrd="1" destOrd="0" presId="urn:microsoft.com/office/officeart/2005/8/layout/cycle4"/>
    <dgm:cxn modelId="{D9E484AF-A783-1145-B508-0E0F9AC28698}" type="presOf" srcId="{981B5F98-6266-6741-B3AF-016C3E1A5710}" destId="{DF19172D-F361-2846-A607-12F7E9EA7C1D}" srcOrd="1" destOrd="2" presId="urn:microsoft.com/office/officeart/2005/8/layout/cycle4"/>
    <dgm:cxn modelId="{F865C1B6-2036-2A4A-8BBE-763C0F96F444}" type="presOf" srcId="{312DF971-2B21-C34E-BD61-7896C195B6BB}" destId="{49CA27F3-4053-7444-ABC0-5892926FEC01}" srcOrd="1" destOrd="0" presId="urn:microsoft.com/office/officeart/2005/8/layout/cycle4"/>
    <dgm:cxn modelId="{EC0B91B7-0A70-AF41-B55D-FC088EA55715}" srcId="{C1A111C3-9CAD-514E-826F-96E08281EB9F}" destId="{EC95374D-D0C5-3243-9D6C-09D99B9C5BB4}" srcOrd="0" destOrd="0" parTransId="{2DCBAAA5-9488-6E43-8D97-D6648D4D8811}" sibTransId="{EF72632F-BC77-064E-99F6-4EBA0D896F2A}"/>
    <dgm:cxn modelId="{510A35D1-CCA3-D749-A094-3F7E3CB20A30}" type="presOf" srcId="{7B5DA441-1A86-784D-8067-394EB94E83D2}" destId="{DF19172D-F361-2846-A607-12F7E9EA7C1D}" srcOrd="1" destOrd="0" presId="urn:microsoft.com/office/officeart/2005/8/layout/cycle4"/>
    <dgm:cxn modelId="{EBE421D3-3C8E-8746-A1FD-83C872F8BABA}" srcId="{C1A111C3-9CAD-514E-826F-96E08281EB9F}" destId="{6849733B-6CB9-EE43-AA58-AF3271467C72}" srcOrd="3" destOrd="0" parTransId="{FB317454-1BB9-AA4A-8AFD-FCE4047B74C9}" sibTransId="{6D4E9980-EF2E-7147-9994-5F6042F2DD29}"/>
    <dgm:cxn modelId="{1EF946D4-B1F9-BA4E-B3CA-7A8057CFD587}" type="presOf" srcId="{7B5DA441-1A86-784D-8067-394EB94E83D2}" destId="{791627F8-4471-664E-86A4-B236FD70220B}" srcOrd="0" destOrd="0" presId="urn:microsoft.com/office/officeart/2005/8/layout/cycle4"/>
    <dgm:cxn modelId="{6FB0C1D4-46F3-8243-A8B3-82495FB95E82}" type="presOf" srcId="{7A2C9E4F-A6CB-E94C-947D-140FDA38DABB}" destId="{791627F8-4471-664E-86A4-B236FD70220B}" srcOrd="0" destOrd="1" presId="urn:microsoft.com/office/officeart/2005/8/layout/cycle4"/>
    <dgm:cxn modelId="{5DBAE3D8-3A40-7C41-B067-4C47E678764B}" srcId="{FAC35322-6B75-9B45-9902-8AD5F0473C33}" destId="{981B5F98-6266-6741-B3AF-016C3E1A5710}" srcOrd="2" destOrd="0" parTransId="{2B36C6EF-4C46-954C-B99A-D77D65134136}" sibTransId="{614EC071-07A8-1446-AE3E-58E8589B3287}"/>
    <dgm:cxn modelId="{8A168DDB-5BA0-3C43-BDDD-60CEC8357A03}" srcId="{8DE0D785-609B-9B40-9031-146A1B3AAD28}" destId="{4C78AF9A-0FB4-264D-9332-5646931FD1A4}" srcOrd="0" destOrd="0" parTransId="{963BA567-E52C-714D-80B0-E1A70E3ED090}" sibTransId="{129EF47A-2CE0-3A4F-ABB8-E834C30EBFE6}"/>
    <dgm:cxn modelId="{6AC010DD-8873-E943-B7DC-D57E7554FDF8}" type="presOf" srcId="{981B5F98-6266-6741-B3AF-016C3E1A5710}" destId="{791627F8-4471-664E-86A4-B236FD70220B}" srcOrd="0" destOrd="2" presId="urn:microsoft.com/office/officeart/2005/8/layout/cycle4"/>
    <dgm:cxn modelId="{4408A2DD-0FEF-1A41-8DA9-A7332FDD70D4}" type="presOf" srcId="{4C78AF9A-0FB4-264D-9332-5646931FD1A4}" destId="{40A85B9C-F4ED-6346-BB47-7E5D40535AF8}" srcOrd="1" destOrd="0" presId="urn:microsoft.com/office/officeart/2005/8/layout/cycle4"/>
    <dgm:cxn modelId="{44C9EDE5-472C-3B47-84AF-4AED40665EF1}" srcId="{FAC35322-6B75-9B45-9902-8AD5F0473C33}" destId="{7A2C9E4F-A6CB-E94C-947D-140FDA38DABB}" srcOrd="1" destOrd="0" parTransId="{6AAB8F8C-87CF-684F-BA1E-8B8B921B83D4}" sibTransId="{CDD28BDB-51AE-6643-B71D-B22CCA253908}"/>
    <dgm:cxn modelId="{6FDF0CF6-EE3F-9D47-A3BE-19194391744D}" srcId="{C1A111C3-9CAD-514E-826F-96E08281EB9F}" destId="{FAC35322-6B75-9B45-9902-8AD5F0473C33}" srcOrd="2" destOrd="0" parTransId="{1A0F675A-50ED-DD49-B133-FDFFB7CF808E}" sibTransId="{6B4D33AB-511F-F94B-A4CB-7D425E99A20B}"/>
    <dgm:cxn modelId="{EAEE7CFF-E301-4C42-BE93-A60A40A07E2F}" type="presOf" srcId="{505455A4-4D59-6449-9546-221160649B27}" destId="{DF19172D-F361-2846-A607-12F7E9EA7C1D}" srcOrd="1" destOrd="3" presId="urn:microsoft.com/office/officeart/2005/8/layout/cycle4"/>
    <dgm:cxn modelId="{7F89ECE1-236E-1344-B1CE-45230C2BF970}" type="presParOf" srcId="{11922E66-A134-7642-95FD-FFE6AF74E386}" destId="{F24C2FAE-9400-7A4F-966C-0E7FD6AC6564}" srcOrd="0" destOrd="0" presId="urn:microsoft.com/office/officeart/2005/8/layout/cycle4"/>
    <dgm:cxn modelId="{77CB271A-58AC-C848-9104-10C30B9053FE}" type="presParOf" srcId="{F24C2FAE-9400-7A4F-966C-0E7FD6AC6564}" destId="{349578CB-363A-BB40-9655-00585BB38402}" srcOrd="0" destOrd="0" presId="urn:microsoft.com/office/officeart/2005/8/layout/cycle4"/>
    <dgm:cxn modelId="{10F0824E-AAA5-6544-B7BA-86E3C0CAAECE}" type="presParOf" srcId="{349578CB-363A-BB40-9655-00585BB38402}" destId="{29D39189-29CD-304A-9EEE-71813D218792}" srcOrd="0" destOrd="0" presId="urn:microsoft.com/office/officeart/2005/8/layout/cycle4"/>
    <dgm:cxn modelId="{EE2F0BC8-8856-7246-A4EE-A9F81187AD27}" type="presParOf" srcId="{349578CB-363A-BB40-9655-00585BB38402}" destId="{49CA27F3-4053-7444-ABC0-5892926FEC01}" srcOrd="1" destOrd="0" presId="urn:microsoft.com/office/officeart/2005/8/layout/cycle4"/>
    <dgm:cxn modelId="{25E3B030-657D-5844-BE5D-A84CF8F1E7D0}" type="presParOf" srcId="{F24C2FAE-9400-7A4F-966C-0E7FD6AC6564}" destId="{AF81D54B-9CB2-A04E-BDC5-A89BAB97F87D}" srcOrd="1" destOrd="0" presId="urn:microsoft.com/office/officeart/2005/8/layout/cycle4"/>
    <dgm:cxn modelId="{E822CFE9-EB75-0E4A-B057-475922AC9BA9}" type="presParOf" srcId="{AF81D54B-9CB2-A04E-BDC5-A89BAB97F87D}" destId="{AC9B683E-0AEB-BC4E-B9C2-B206FE647F9D}" srcOrd="0" destOrd="0" presId="urn:microsoft.com/office/officeart/2005/8/layout/cycle4"/>
    <dgm:cxn modelId="{8D909D16-B383-894F-85C3-B1F083825F95}" type="presParOf" srcId="{AF81D54B-9CB2-A04E-BDC5-A89BAB97F87D}" destId="{40A85B9C-F4ED-6346-BB47-7E5D40535AF8}" srcOrd="1" destOrd="0" presId="urn:microsoft.com/office/officeart/2005/8/layout/cycle4"/>
    <dgm:cxn modelId="{82857861-30FE-7845-9CCB-8E53A34E2B8C}" type="presParOf" srcId="{F24C2FAE-9400-7A4F-966C-0E7FD6AC6564}" destId="{86D855B7-428A-8E42-ADDD-AAB2F7FA1313}" srcOrd="2" destOrd="0" presId="urn:microsoft.com/office/officeart/2005/8/layout/cycle4"/>
    <dgm:cxn modelId="{320881CF-9A02-9B4C-8356-CB60DCB2F68A}" type="presParOf" srcId="{86D855B7-428A-8E42-ADDD-AAB2F7FA1313}" destId="{791627F8-4471-664E-86A4-B236FD70220B}" srcOrd="0" destOrd="0" presId="urn:microsoft.com/office/officeart/2005/8/layout/cycle4"/>
    <dgm:cxn modelId="{24D19CC1-D889-FE4C-8B03-BC5FA1864282}" type="presParOf" srcId="{86D855B7-428A-8E42-ADDD-AAB2F7FA1313}" destId="{DF19172D-F361-2846-A607-12F7E9EA7C1D}" srcOrd="1" destOrd="0" presId="urn:microsoft.com/office/officeart/2005/8/layout/cycle4"/>
    <dgm:cxn modelId="{08FAAAF4-7F8C-8444-841E-822FB1F5626C}" type="presParOf" srcId="{F24C2FAE-9400-7A4F-966C-0E7FD6AC6564}" destId="{B06C91C0-3B4B-0B4F-B08F-0AA702B69779}" srcOrd="3" destOrd="0" presId="urn:microsoft.com/office/officeart/2005/8/layout/cycle4"/>
    <dgm:cxn modelId="{60A10F12-2415-6747-8165-3E189AB60CAD}" type="presParOf" srcId="{B06C91C0-3B4B-0B4F-B08F-0AA702B69779}" destId="{C913E6C7-BC38-074D-96D5-27854CE53FF7}" srcOrd="0" destOrd="0" presId="urn:microsoft.com/office/officeart/2005/8/layout/cycle4"/>
    <dgm:cxn modelId="{AA850091-D9FA-164E-A2D2-FAB034260D7E}" type="presParOf" srcId="{B06C91C0-3B4B-0B4F-B08F-0AA702B69779}" destId="{964DB9E0-31A6-3147-AC67-7C64193552CA}" srcOrd="1" destOrd="0" presId="urn:microsoft.com/office/officeart/2005/8/layout/cycle4"/>
    <dgm:cxn modelId="{647DE7F8-7EF4-784D-8A16-E89CC16ADD24}" type="presParOf" srcId="{F24C2FAE-9400-7A4F-966C-0E7FD6AC6564}" destId="{7E288BE9-CFC7-8C47-BDA9-5F69E328D543}" srcOrd="4" destOrd="0" presId="urn:microsoft.com/office/officeart/2005/8/layout/cycle4"/>
    <dgm:cxn modelId="{28BC96A1-6A66-034A-9156-0F66AF749B9E}" type="presParOf" srcId="{11922E66-A134-7642-95FD-FFE6AF74E386}" destId="{CC6DDA81-D8BF-D848-ACA9-AC35CBAED19C}" srcOrd="1" destOrd="0" presId="urn:microsoft.com/office/officeart/2005/8/layout/cycle4"/>
    <dgm:cxn modelId="{EC0B8594-E858-994E-9C9E-33CFADE142D0}" type="presParOf" srcId="{CC6DDA81-D8BF-D848-ACA9-AC35CBAED19C}" destId="{674E3AB5-B5D8-3045-9573-3D84F075124C}" srcOrd="0" destOrd="0" presId="urn:microsoft.com/office/officeart/2005/8/layout/cycle4"/>
    <dgm:cxn modelId="{A0B537F2-B6AB-794B-B560-654BA6D9BAB6}" type="presParOf" srcId="{CC6DDA81-D8BF-D848-ACA9-AC35CBAED19C}" destId="{D93E0B24-20BA-614A-82E8-84E71B4640BC}" srcOrd="1" destOrd="0" presId="urn:microsoft.com/office/officeart/2005/8/layout/cycle4"/>
    <dgm:cxn modelId="{8D8880BF-8A8F-1248-8AB7-CB2A0A32EE61}" type="presParOf" srcId="{CC6DDA81-D8BF-D848-ACA9-AC35CBAED19C}" destId="{F95B64E0-DC83-A543-9982-A6CDAA31A722}" srcOrd="2" destOrd="0" presId="urn:microsoft.com/office/officeart/2005/8/layout/cycle4"/>
    <dgm:cxn modelId="{8CD7829A-5BE5-A24B-B1D7-22FDD3C8ABE3}" type="presParOf" srcId="{CC6DDA81-D8BF-D848-ACA9-AC35CBAED19C}" destId="{805B89AA-EAE8-7341-8D4E-0A1F7026ACC7}" srcOrd="3" destOrd="0" presId="urn:microsoft.com/office/officeart/2005/8/layout/cycle4"/>
    <dgm:cxn modelId="{01554535-4626-AC48-A0A5-18CEABED201E}" type="presParOf" srcId="{CC6DDA81-D8BF-D848-ACA9-AC35CBAED19C}" destId="{4E75C596-4834-6A4F-9089-B3E85DB493A2}" srcOrd="4" destOrd="0" presId="urn:microsoft.com/office/officeart/2005/8/layout/cycle4"/>
    <dgm:cxn modelId="{15D4E744-6C05-284E-880D-4C6B9B3287CB}" type="presParOf" srcId="{11922E66-A134-7642-95FD-FFE6AF74E386}" destId="{14B680DB-9EBF-E942-9A96-9848F13F855B}" srcOrd="2" destOrd="0" presId="urn:microsoft.com/office/officeart/2005/8/layout/cycle4"/>
    <dgm:cxn modelId="{80BD1CC1-D507-3044-B39E-15657A7247B2}" type="presParOf" srcId="{11922E66-A134-7642-95FD-FFE6AF74E386}" destId="{DA6BC331-29E7-144D-B7D8-E05D4CDFD34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627F8-4471-664E-86A4-B236FD70220B}">
      <dsp:nvSpPr>
        <dsp:cNvPr id="0" name=""/>
        <dsp:cNvSpPr/>
      </dsp:nvSpPr>
      <dsp:spPr>
        <a:xfrm>
          <a:off x="2125983" y="2654921"/>
          <a:ext cx="1968683" cy="1075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555991"/>
              <a:satOff val="8658"/>
              <a:lumOff val="431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800" b="1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800" b="1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800" b="1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i="0" u="none" kern="1200" dirty="0"/>
            <a:t>   Moderate correlation with crime rates; slightly negative, reactive coverage.</a:t>
          </a:r>
          <a:endParaRPr lang="en-US" sz="800" b="1" kern="1200" dirty="0"/>
        </a:p>
      </dsp:txBody>
      <dsp:txXfrm>
        <a:off x="2740215" y="2947440"/>
        <a:ext cx="1330824" cy="759422"/>
      </dsp:txXfrm>
    </dsp:sp>
    <dsp:sp modelId="{C913E6C7-BC38-074D-96D5-27854CE53FF7}">
      <dsp:nvSpPr>
        <dsp:cNvPr id="0" name=""/>
        <dsp:cNvSpPr/>
      </dsp:nvSpPr>
      <dsp:spPr>
        <a:xfrm>
          <a:off x="-198474" y="2748402"/>
          <a:ext cx="1883992" cy="968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277996"/>
              <a:satOff val="4329"/>
              <a:lumOff val="215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i="0" u="none" kern="1200" dirty="0"/>
            <a:t>Top types: Theft, Battery, Criminal Damage (~50% of incidents). Streets, apartments, residences are primary locations. Only ~25% arrest rate overall.</a:t>
          </a:r>
          <a:endParaRPr lang="en-US" sz="800" b="1" kern="1200" dirty="0"/>
        </a:p>
      </dsp:txBody>
      <dsp:txXfrm>
        <a:off x="-177209" y="3011684"/>
        <a:ext cx="1276265" cy="683518"/>
      </dsp:txXfrm>
    </dsp:sp>
    <dsp:sp modelId="{AC9B683E-0AEB-BC4E-B9C2-B206FE647F9D}">
      <dsp:nvSpPr>
        <dsp:cNvPr id="0" name=""/>
        <dsp:cNvSpPr/>
      </dsp:nvSpPr>
      <dsp:spPr>
        <a:xfrm>
          <a:off x="2256844" y="691265"/>
          <a:ext cx="1849979" cy="968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277996"/>
              <a:satOff val="4329"/>
              <a:lumOff val="215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i="0" u="none" kern="1200" dirty="0"/>
            <a:t>Persistent concentration in Districts 11, 8, 6 and Wards 42, 28 (West/South Chicago). Reflects historical socioeconomic disparities.</a:t>
          </a:r>
          <a:endParaRPr lang="en-US" sz="800" b="1" kern="1200" dirty="0"/>
        </a:p>
      </dsp:txBody>
      <dsp:txXfrm>
        <a:off x="2833103" y="712530"/>
        <a:ext cx="1252455" cy="683518"/>
      </dsp:txXfrm>
    </dsp:sp>
    <dsp:sp modelId="{29D39189-29CD-304A-9EEE-71813D218792}">
      <dsp:nvSpPr>
        <dsp:cNvPr id="0" name=""/>
        <dsp:cNvSpPr/>
      </dsp:nvSpPr>
      <dsp:spPr>
        <a:xfrm>
          <a:off x="-174085" y="691265"/>
          <a:ext cx="1835214" cy="9680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b="1" i="0" u="none" kern="1200" dirty="0"/>
            <a:t>Crime declined since 2016 with COVID-19 dip (2020-21). Strong seasonality: peaks June-August, drops in winter. Highest activity Friday-Saturday, 6 PM-midnight.</a:t>
          </a:r>
          <a:endParaRPr lang="en-US" sz="800" b="1" kern="1200" dirty="0"/>
        </a:p>
      </dsp:txBody>
      <dsp:txXfrm>
        <a:off x="-152820" y="712530"/>
        <a:ext cx="1242119" cy="683518"/>
      </dsp:txXfrm>
    </dsp:sp>
    <dsp:sp modelId="{674E3AB5-B5D8-3045-9573-3D84F075124C}">
      <dsp:nvSpPr>
        <dsp:cNvPr id="0" name=""/>
        <dsp:cNvSpPr/>
      </dsp:nvSpPr>
      <dsp:spPr>
        <a:xfrm>
          <a:off x="643686" y="890578"/>
          <a:ext cx="1309912" cy="1309912"/>
        </a:xfrm>
        <a:prstGeom prst="pieWedge">
          <a:avLst/>
        </a:prstGeom>
        <a:solidFill>
          <a:schemeClr val="bg1">
            <a:lumMod val="85000"/>
          </a:schemeClr>
        </a:solidFill>
        <a:ln w="44450" cap="flat" cmpd="sng" algn="ctr">
          <a:solidFill>
            <a:srgbClr val="FF5F0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13294B"/>
              </a:solidFill>
            </a:rPr>
            <a:t>Temporal Trends</a:t>
          </a:r>
        </a:p>
      </dsp:txBody>
      <dsp:txXfrm>
        <a:off x="1027350" y="1274242"/>
        <a:ext cx="926248" cy="926248"/>
      </dsp:txXfrm>
    </dsp:sp>
    <dsp:sp modelId="{D93E0B24-20BA-614A-82E8-84E71B4640BC}">
      <dsp:nvSpPr>
        <dsp:cNvPr id="0" name=""/>
        <dsp:cNvSpPr/>
      </dsp:nvSpPr>
      <dsp:spPr>
        <a:xfrm rot="5400000">
          <a:off x="2014102" y="890578"/>
          <a:ext cx="1309912" cy="1309912"/>
        </a:xfrm>
        <a:prstGeom prst="pieWedge">
          <a:avLst/>
        </a:prstGeom>
        <a:solidFill>
          <a:schemeClr val="bg1">
            <a:lumMod val="75000"/>
          </a:schemeClr>
        </a:solidFill>
        <a:ln w="44450" cap="flat" cmpd="sng" algn="ctr">
          <a:solidFill>
            <a:srgbClr val="FF5F0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13294B"/>
              </a:solidFill>
            </a:rPr>
            <a:t>Spatial Hotspots</a:t>
          </a:r>
        </a:p>
      </dsp:txBody>
      <dsp:txXfrm rot="-5400000">
        <a:off x="2014102" y="1274242"/>
        <a:ext cx="926248" cy="926248"/>
      </dsp:txXfrm>
    </dsp:sp>
    <dsp:sp modelId="{F95B64E0-DC83-A543-9982-A6CDAA31A722}">
      <dsp:nvSpPr>
        <dsp:cNvPr id="0" name=""/>
        <dsp:cNvSpPr/>
      </dsp:nvSpPr>
      <dsp:spPr>
        <a:xfrm rot="10800000">
          <a:off x="2014102" y="2260994"/>
          <a:ext cx="1309912" cy="1309912"/>
        </a:xfrm>
        <a:prstGeom prst="pieWedge">
          <a:avLst/>
        </a:prstGeom>
        <a:solidFill>
          <a:schemeClr val="bg1">
            <a:lumMod val="50000"/>
          </a:schemeClr>
        </a:solidFill>
        <a:ln w="44450" cap="flat" cmpd="sng" algn="ctr">
          <a:solidFill>
            <a:srgbClr val="FF5F0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13294B"/>
              </a:solidFill>
            </a:rPr>
            <a:t>Media Analysis</a:t>
          </a:r>
        </a:p>
      </dsp:txBody>
      <dsp:txXfrm rot="10800000">
        <a:off x="2014102" y="2260994"/>
        <a:ext cx="926248" cy="926248"/>
      </dsp:txXfrm>
    </dsp:sp>
    <dsp:sp modelId="{805B89AA-EAE8-7341-8D4E-0A1F7026ACC7}">
      <dsp:nvSpPr>
        <dsp:cNvPr id="0" name=""/>
        <dsp:cNvSpPr/>
      </dsp:nvSpPr>
      <dsp:spPr>
        <a:xfrm rot="16200000">
          <a:off x="643686" y="2260994"/>
          <a:ext cx="1309912" cy="1309912"/>
        </a:xfrm>
        <a:prstGeom prst="pieWedge">
          <a:avLst/>
        </a:prstGeom>
        <a:solidFill>
          <a:schemeClr val="bg1">
            <a:lumMod val="65000"/>
          </a:schemeClr>
        </a:solidFill>
        <a:ln w="44450" cap="flat" cmpd="sng" algn="ctr">
          <a:solidFill>
            <a:srgbClr val="FF5F0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13294B"/>
              </a:solidFill>
            </a:rPr>
            <a:t>Crime Categories</a:t>
          </a:r>
        </a:p>
      </dsp:txBody>
      <dsp:txXfrm rot="5400000">
        <a:off x="1027350" y="2260994"/>
        <a:ext cx="926248" cy="926248"/>
      </dsp:txXfrm>
    </dsp:sp>
    <dsp:sp modelId="{14B680DB-9EBF-E942-9A96-9848F13F855B}">
      <dsp:nvSpPr>
        <dsp:cNvPr id="0" name=""/>
        <dsp:cNvSpPr/>
      </dsp:nvSpPr>
      <dsp:spPr>
        <a:xfrm>
          <a:off x="3344515" y="1836582"/>
          <a:ext cx="452267" cy="393276"/>
        </a:xfrm>
        <a:prstGeom prst="circularArrow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BC331-29E7-144D-B7D8-E05D4CDFD346}">
      <dsp:nvSpPr>
        <dsp:cNvPr id="0" name=""/>
        <dsp:cNvSpPr/>
      </dsp:nvSpPr>
      <dsp:spPr>
        <a:xfrm rot="10800000">
          <a:off x="3419795" y="1948084"/>
          <a:ext cx="451417" cy="292381"/>
        </a:xfrm>
        <a:prstGeom prst="circularArrow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00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898AC-9BEC-C64D-87E8-10079E98B9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18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1575-E545-8E29-8CF8-EA46C1F9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5FAF7-C5C3-916F-3FB1-070C51AB1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70420-38B5-C4BD-FAB8-C1C7BE177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28BE9-CE4D-B4CC-1918-665264F97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1792-8435-2DC3-838A-B02EB27A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82A8-C66E-23EF-92CF-45C42EBB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C042B-4B4A-063D-8ADF-FD52B971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DC68E-84E7-4A4F-B966-29B9AB82816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5260-1562-04B4-2587-2A9C47AE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CA77-A141-D8D8-5814-58A75C85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C8A1-54CC-8D46-B310-4E94AEFE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2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66cb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94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367" y="814428"/>
            <a:ext cx="7811262" cy="189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05"/>
              </a:lnSpc>
              <a:spcAft>
                <a:spcPts val="1350"/>
              </a:spcAft>
              <a:buNone/>
            </a:pPr>
            <a:r>
              <a:rPr lang="en-US" sz="28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Storying the Streets:</a:t>
            </a:r>
            <a:endParaRPr lang="en-US" sz="2850" b="1" i="1" dirty="0"/>
          </a:p>
          <a:p>
            <a:pPr marL="0" indent="0" algn="ctr">
              <a:lnSpc>
                <a:spcPts val="3705"/>
              </a:lnSpc>
              <a:spcAft>
                <a:spcPts val="1350"/>
              </a:spcAft>
              <a:buNone/>
            </a:pPr>
            <a:r>
              <a:rPr lang="en-US" sz="28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Narrative Intelligence Approach to</a:t>
            </a:r>
            <a:endParaRPr lang="en-US" sz="2850" b="1" i="1" dirty="0"/>
          </a:p>
          <a:p>
            <a:pPr marL="0" indent="0" algn="ctr">
              <a:lnSpc>
                <a:spcPts val="3705"/>
              </a:lnSpc>
              <a:spcAft>
                <a:spcPts val="1350"/>
              </a:spcAft>
              <a:buNone/>
            </a:pPr>
            <a:r>
              <a:rPr lang="en-US" sz="28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Data Analysis</a:t>
            </a:r>
            <a:endParaRPr lang="en-US" sz="2850" b="1" i="1" dirty="0"/>
          </a:p>
        </p:txBody>
      </p:sp>
      <p:sp>
        <p:nvSpPr>
          <p:cNvPr id="4" name="Text 1"/>
          <p:cNvSpPr/>
          <p:nvPr/>
        </p:nvSpPr>
        <p:spPr>
          <a:xfrm>
            <a:off x="2890887" y="3001470"/>
            <a:ext cx="336222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4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IS597 – Machine Learning Cloud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167461" y="3629281"/>
            <a:ext cx="28090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6 - Final Technical Report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4244739"/>
            <a:ext cx="9060109" cy="517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1125"/>
              </a:spcBef>
              <a:spcAft>
                <a:spcPts val="375"/>
              </a:spcAft>
              <a:buNone/>
            </a:pPr>
            <a:r>
              <a:rPr lang="en-US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Praveena Palani Acharya • Achyutha Sushanth Ariga • Rohith Jagadeesan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4401122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Problem Statement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51435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51435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895350"/>
            <a:ext cx="855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crime analysis relies on ML models achieving high predictive accuracy but providing limited interpretability for policymakers. Traditional approaches fail to explain WHY predictions occur or HOW patterns emerge.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" y="2876436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3065323"/>
            <a:ext cx="861060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Demonstrate ML limitations: High accuracy (77%) but low narrative value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Develop Hybrid RAG system combining semantic + rule-based + LLM synthesis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Quantify temporal/spatial patterns through comprehensive EDA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Generate actionable insights transforming statistics into contextual stories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6700" y="3825626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Innovation: Three-Tier Hybrid RAG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700" y="4047191"/>
            <a:ext cx="861060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1.88M Chicago crime records (2018-2025) + 15K Tribune articles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Semantic search via SentenceTransformers (all-MiniLM-L6-v2) + FAISS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Deterministic linking: ±3 days temporal + keyword + location matching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LLM synthesis: Google Gemini generates human-readable narratives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6700" y="4762359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0988" y="4762359"/>
            <a:ext cx="0" cy="2667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25" y="4838559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Scalable framework bridging quantitative analysis and qualitative understanding—transforming 'what happened' into 'why it happened and what it means'</a:t>
            </a:r>
            <a:endParaRPr lang="en-US" sz="7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F8FFA83-CE46-E180-9A08-67A6F68C0887}"/>
              </a:ext>
            </a:extLst>
          </p:cNvPr>
          <p:cNvSpPr/>
          <p:nvPr/>
        </p:nvSpPr>
        <p:spPr>
          <a:xfrm>
            <a:off x="280988" y="1295399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a problem and What is Needed?</a:t>
            </a:r>
            <a:endParaRPr lang="en-US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D63500C-4BD5-A475-30FA-524B05C0514C}"/>
              </a:ext>
            </a:extLst>
          </p:cNvPr>
          <p:cNvSpPr/>
          <p:nvPr/>
        </p:nvSpPr>
        <p:spPr>
          <a:xfrm>
            <a:off x="266700" y="1502795"/>
            <a:ext cx="8610600" cy="135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Feature importance (e.g., SHAP) shows </a:t>
            </a:r>
            <a:r>
              <a:rPr lang="en-US" sz="850" i="1" dirty="0">
                <a:latin typeface="Arial" panose="020B0604020202020204" pitchFamily="34" charset="0"/>
                <a:cs typeface="Arial" panose="020B0604020202020204" pitchFamily="34" charset="0"/>
              </a:rPr>
              <a:t>which inputs matter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 but not </a:t>
            </a:r>
            <a:r>
              <a:rPr lang="en-US" sz="850" i="1" dirty="0">
                <a:latin typeface="Arial" panose="020B0604020202020204" pitchFamily="34" charset="0"/>
                <a:cs typeface="Arial" panose="020B0604020202020204" pitchFamily="34" charset="0"/>
              </a:rPr>
              <a:t>how real events and contexts shape patterns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Example gap:</a:t>
            </a:r>
          </a:p>
          <a:p>
            <a:pPr marL="800100" lvl="1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Model: “85% arrest probability”</a:t>
            </a:r>
          </a:p>
          <a:p>
            <a:pPr marL="800100" lvl="1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Missing: </a:t>
            </a:r>
            <a:r>
              <a:rPr lang="en-US" sz="850" i="1" dirty="0">
                <a:latin typeface="Arial" panose="020B0604020202020204" pitchFamily="34" charset="0"/>
                <a:cs typeface="Arial" panose="020B0604020202020204" pitchFamily="34" charset="0"/>
              </a:rPr>
              <a:t>Why is this high? What historical, spatial, or socio-political context contributed?</a:t>
            </a:r>
          </a:p>
          <a:p>
            <a:pPr marL="342900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We need a system that connects:</a:t>
            </a:r>
          </a:p>
          <a:p>
            <a:pPr marL="800100" lvl="1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Quantitative statistics →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 crime patterns</a:t>
            </a:r>
          </a:p>
          <a:p>
            <a:pPr marL="800100" lvl="1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Qualitative context →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 news narratives, local events</a:t>
            </a:r>
          </a:p>
          <a:p>
            <a:pPr marL="800100" lvl="1" indent="-342900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Interpretability →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 explanations humans can act 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4401122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Scale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1116211"/>
          </a:xfrm>
          <a:prstGeom prst="roundRect">
            <a:avLst>
              <a:gd name="adj" fmla="val 34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1116211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Crime Dataset (Chicago Data Portal)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923925"/>
            <a:ext cx="83915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1,883,142 crime incidents (2018-2025)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attributes: Date, Primary Type, Block, Location, Arrest, District, Ward, Coordinates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All 77 Chicago community areas, 22 police districts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&lt;2% missing values, 0.5% duplicates removed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66700" y="1945048"/>
            <a:ext cx="8610600" cy="1116211"/>
          </a:xfrm>
          <a:prstGeom prst="roundRect">
            <a:avLst>
              <a:gd name="adj" fmla="val 34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0988" y="1945048"/>
            <a:ext cx="0" cy="1116211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525" y="2021248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Tribune News Dataset (ProQuest Archives)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0525" y="2183173"/>
            <a:ext cx="83915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15,247 crime-related articles (2018-2025)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Title, Full Text, Publication Date, Author, Subject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length: 150-2500 words (mean: 680 words)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bias: 65% violent crimes vs 35% property crimes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" y="326783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700" y="3563700"/>
            <a:ext cx="42576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Data: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features: Hour, Day, Month, Season, Weekend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Spatial: BlockNorm, Dist-to-Police, Dist-to-CTA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Categories: Violent vs Non-Violent classification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19625" y="3532297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Data: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cleaning: HTML removal, lowercasing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 VADER polarity (-1 to +1)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tagging: Crime type dictionary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Truncation: 1500 chars for embedding efficiency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66700" y="4603711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80988" y="4603711"/>
            <a:ext cx="0" cy="266700"/>
          </a:xfrm>
          <a:prstGeom prst="line">
            <a:avLst/>
          </a:prstGeom>
          <a:noFill/>
          <a:ln w="2857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525" y="467991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Challenge: 1.88M crimes vs 15K articles (125:1 ratio) → Solution: Aggregate into 142,635 crime chunks (92% compression)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421946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Findings: Temporal &amp; Spatial Patterns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865660"/>
            <a:ext cx="4257675" cy="138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peak: 180K/month (Jun-Aug)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low: 135K/month (Dec-Feb)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variance driven by temperature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Distribution: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Friday-Saturday: 280K each (15-16%)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 uniform: ~240K each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66699" y="2050404"/>
            <a:ext cx="4257675" cy="138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Bimodal Pattern: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 peak: 110K incidents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peak: 120K incidents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AM minimum: 35K incidents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Trends: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2020-2021 dip: 205K (COVID lockdowns)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2023-2024 peak: 260K (post-COVID recovery)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66700" y="3566741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Patterns &amp; Hotspots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700" y="3783583"/>
            <a:ext cx="425767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Districts: D11 (174K West), D8 (172K South), D6 (166K Southwest)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Concentration: 60% incidents in 30% of geographic areas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correlation: Mean 0.35km, Median 0.28km to transit stops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 rate disparity: Narcotics 95%, Gambling 98% vs Theft 11%, Burglary 9%</a:t>
            </a:r>
            <a:endParaRPr lang="en-US" sz="825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ECF47E0-5341-2B7E-D1D2-14E5325E3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3465501"/>
              </p:ext>
            </p:extLst>
          </p:nvPr>
        </p:nvGraphicFramePr>
        <p:xfrm>
          <a:off x="4715447" y="381000"/>
          <a:ext cx="3967701" cy="4461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 2">
            <a:extLst>
              <a:ext uri="{FF2B5EF4-FFF2-40B4-BE49-F238E27FC236}">
                <a16:creationId xmlns:a16="http://schemas.microsoft.com/office/drawing/2014/main" id="{C83A029F-D485-D474-8D51-E6F06AF42ABC}"/>
              </a:ext>
            </a:extLst>
          </p:cNvPr>
          <p:cNvSpPr/>
          <p:nvPr/>
        </p:nvSpPr>
        <p:spPr>
          <a:xfrm>
            <a:off x="4572000" y="696442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Key Findings</a:t>
            </a: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F6CDDC-BA31-06EF-6F1F-2EF84896081B}"/>
              </a:ext>
            </a:extLst>
          </p:cNvPr>
          <p:cNvCxnSpPr>
            <a:cxnSpLocks/>
          </p:cNvCxnSpPr>
          <p:nvPr/>
        </p:nvCxnSpPr>
        <p:spPr>
          <a:xfrm>
            <a:off x="4381668" y="696442"/>
            <a:ext cx="0" cy="3724483"/>
          </a:xfrm>
          <a:prstGeom prst="line">
            <a:avLst/>
          </a:prstGeom>
          <a:ln w="38100" cap="flat" cmpd="sng" algn="ctr">
            <a:solidFill>
              <a:srgbClr val="13294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1527-309F-254E-0F64-0955E005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E03BFA-F775-55FC-D617-4D3EEE3CC280}"/>
              </a:ext>
            </a:extLst>
          </p:cNvPr>
          <p:cNvSpPr txBox="1"/>
          <p:nvPr/>
        </p:nvSpPr>
        <p:spPr>
          <a:xfrm>
            <a:off x="499846" y="194929"/>
            <a:ext cx="66430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8"/>
              </a:spcAft>
            </a:pPr>
            <a:r>
              <a:rPr lang="en-US" sz="2100" b="1" dirty="0">
                <a:solidFill>
                  <a:srgbClr val="13294B"/>
                </a:solidFill>
                <a:latin typeface="Segoe UI" panose="020B0502040204020203" pitchFamily="34" charset="0"/>
              </a:rPr>
              <a:t>Exploratory Data Analysis: Visual Representations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40840C-CAE9-DB3F-420A-08D0145A9867}"/>
              </a:ext>
            </a:extLst>
          </p:cNvPr>
          <p:cNvCxnSpPr>
            <a:cxnSpLocks/>
          </p:cNvCxnSpPr>
          <p:nvPr/>
        </p:nvCxnSpPr>
        <p:spPr>
          <a:xfrm>
            <a:off x="546850" y="639920"/>
            <a:ext cx="8049137" cy="0"/>
          </a:xfrm>
          <a:prstGeom prst="line">
            <a:avLst/>
          </a:prstGeom>
          <a:ln w="38100">
            <a:solidFill>
              <a:srgbClr val="FF5F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F3E8D047-6547-EC2A-BCE0-45AE9B9D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76"/>
            <a:ext cx="65" cy="20774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endParaRPr lang="en-US" altLang="en-US" sz="13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5FDDF4-87F2-2083-7617-B5B1C6BEC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76"/>
            <a:ext cx="65" cy="20774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endParaRPr lang="en-US" altLang="en-US" sz="1350" dirty="0"/>
          </a:p>
        </p:txBody>
      </p:sp>
      <p:pic>
        <p:nvPicPr>
          <p:cNvPr id="3" name="Picture 2" descr="A graph of a crime&#10;&#10;AI-generated content may be incorrect.">
            <a:extLst>
              <a:ext uri="{FF2B5EF4-FFF2-40B4-BE49-F238E27FC236}">
                <a16:creationId xmlns:a16="http://schemas.microsoft.com/office/drawing/2014/main" id="{454C7F3A-8885-E484-21D3-F0BEB8A1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46" y="866548"/>
            <a:ext cx="3571861" cy="1705202"/>
          </a:xfrm>
          <a:prstGeom prst="rect">
            <a:avLst/>
          </a:prstGeom>
        </p:spPr>
      </p:pic>
      <p:pic>
        <p:nvPicPr>
          <p:cNvPr id="6" name="Picture 5" descr="A graph of a crime&#10;&#10;AI-generated content may be incorrect.">
            <a:extLst>
              <a:ext uri="{FF2B5EF4-FFF2-40B4-BE49-F238E27FC236}">
                <a16:creationId xmlns:a16="http://schemas.microsoft.com/office/drawing/2014/main" id="{486E53DC-463D-3E92-531E-3EA96AA81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522" y="866549"/>
            <a:ext cx="4298633" cy="1705199"/>
          </a:xfrm>
          <a:prstGeom prst="rect">
            <a:avLst/>
          </a:prstGeom>
        </p:spPr>
      </p:pic>
      <p:pic>
        <p:nvPicPr>
          <p:cNvPr id="7" name="Picture 6" descr="A graph of a crime location&#10;&#10;AI-generated content may be incorrect.">
            <a:extLst>
              <a:ext uri="{FF2B5EF4-FFF2-40B4-BE49-F238E27FC236}">
                <a16:creationId xmlns:a16="http://schemas.microsoft.com/office/drawing/2014/main" id="{1183D81F-9221-6F5E-848B-15B3BDE5A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46" y="2718992"/>
            <a:ext cx="4298633" cy="2090514"/>
          </a:xfrm>
          <a:prstGeom prst="rect">
            <a:avLst/>
          </a:prstGeom>
        </p:spPr>
      </p:pic>
      <p:pic>
        <p:nvPicPr>
          <p:cNvPr id="8" name="Picture 7" descr="A graph of a bar chart&#10;&#10;AI-generated content may be incorrect.">
            <a:extLst>
              <a:ext uri="{FF2B5EF4-FFF2-40B4-BE49-F238E27FC236}">
                <a16:creationId xmlns:a16="http://schemas.microsoft.com/office/drawing/2014/main" id="{E49A9C3C-8100-2DF1-9774-F32C3F381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478" y="2718992"/>
            <a:ext cx="4298633" cy="209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2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709E-CE6B-43B9-4E6B-DB41606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DA0F06-96B5-9A54-8EFF-E16DD160EE6A}"/>
              </a:ext>
            </a:extLst>
          </p:cNvPr>
          <p:cNvSpPr txBox="1"/>
          <p:nvPr/>
        </p:nvSpPr>
        <p:spPr>
          <a:xfrm>
            <a:off x="499846" y="194929"/>
            <a:ext cx="66430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8"/>
              </a:spcAft>
            </a:pPr>
            <a:r>
              <a:rPr lang="en-US" sz="2100" b="1" dirty="0">
                <a:solidFill>
                  <a:srgbClr val="13294B"/>
                </a:solidFill>
                <a:latin typeface="Segoe UI" panose="020B0502040204020203" pitchFamily="34" charset="0"/>
              </a:rPr>
              <a:t>Exploratory Data Analysis: Visual Representations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5DDB00-76FD-B1CA-ACA6-5CFD73C5B04A}"/>
              </a:ext>
            </a:extLst>
          </p:cNvPr>
          <p:cNvCxnSpPr>
            <a:cxnSpLocks/>
          </p:cNvCxnSpPr>
          <p:nvPr/>
        </p:nvCxnSpPr>
        <p:spPr>
          <a:xfrm>
            <a:off x="546850" y="639920"/>
            <a:ext cx="8049137" cy="0"/>
          </a:xfrm>
          <a:prstGeom prst="line">
            <a:avLst/>
          </a:prstGeom>
          <a:ln w="38100">
            <a:solidFill>
              <a:srgbClr val="FF5F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D4895202-C677-7AF3-74FD-8891E5D2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76"/>
            <a:ext cx="65" cy="20774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endParaRPr lang="en-US" altLang="en-US" sz="13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F6182E-FACD-C0E5-0A2F-64E849536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76"/>
            <a:ext cx="65" cy="20774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endParaRPr lang="en-US" altLang="en-US" sz="1350" dirty="0"/>
          </a:p>
        </p:txBody>
      </p:sp>
      <p:pic>
        <p:nvPicPr>
          <p:cNvPr id="4" name="Picture 3" descr="A graph with purple bars&#10;&#10;AI-generated content may be incorrect.">
            <a:extLst>
              <a:ext uri="{FF2B5EF4-FFF2-40B4-BE49-F238E27FC236}">
                <a16:creationId xmlns:a16="http://schemas.microsoft.com/office/drawing/2014/main" id="{B392BABC-4DB4-6BEC-2C31-B62BE455D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9" y="774042"/>
            <a:ext cx="4120154" cy="2027873"/>
          </a:xfrm>
          <a:prstGeom prst="rect">
            <a:avLst/>
          </a:prstGeom>
        </p:spPr>
      </p:pic>
      <p:pic>
        <p:nvPicPr>
          <p:cNvPr id="11" name="Picture 10" descr="A graph showing a bar chart&#10;&#10;AI-generated content may be incorrect.">
            <a:extLst>
              <a:ext uri="{FF2B5EF4-FFF2-40B4-BE49-F238E27FC236}">
                <a16:creationId xmlns:a16="http://schemas.microsoft.com/office/drawing/2014/main" id="{B041DDBA-9BB3-E476-EF2E-5114E0B39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49" y="2936036"/>
            <a:ext cx="4120154" cy="2012535"/>
          </a:xfrm>
          <a:prstGeom prst="rect">
            <a:avLst/>
          </a:prstGeom>
        </p:spPr>
      </p:pic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A52C9450-90BA-E288-E8C6-D0CF9B25D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367" y="2936037"/>
            <a:ext cx="4120154" cy="2012534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C53CD9CF-F614-2ECD-8927-28A31229C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413" y="1151408"/>
            <a:ext cx="4133138" cy="152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0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5314379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Type Distribution &amp; Arrest Rates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Crime Types (Total 1.88M incidents)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921693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Theft: 398K (21.1%)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651" y="1070949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Battery: 365K (19.4%)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651" y="1220201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Criminal Damage: 225K (11.9%)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651" y="1377410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Assault: 178K (9.5%)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651" y="1542567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Deceptive Practice: 156K (8.3%)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9625" y="921693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Motor Vehicle Theft: 143K (7.6%)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7576" y="1070949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Other Offense: 136K (7.2%)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7576" y="1220201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Burglary: 89K (4.8%)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7576" y="1377410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Robbery: 87K (4.6%)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8066" y="1542567"/>
            <a:ext cx="4342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Narcotics: 79K (4.2%)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700" y="1763201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 Rate Analysis (Overall: 15.6%)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700" y="1972011"/>
            <a:ext cx="4257675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Arrest Rates: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Gambling: 98%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Narcotics: 95%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Prostitution: 92%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 Law: 88%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Weapons: 65%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9625" y="1972011"/>
            <a:ext cx="4257675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Arrest Rates: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Theft: 11%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Burglary: 9%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Damage: 8%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Vehicle Theft: 7%</a:t>
            </a:r>
            <a:endParaRPr lang="en-US" sz="12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Deceptive Practice: 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1512" y="3317839"/>
            <a:ext cx="3066231" cy="104764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 w="38100"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88856" y="3411862"/>
            <a:ext cx="3088397" cy="104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On-scene crimes </a:t>
            </a:r>
          </a:p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(narcotics, weapons) show 5-10x higher </a:t>
            </a:r>
          </a:p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 rates than investigative crimes (theft, </a:t>
            </a:r>
          </a:p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burglary) due to resource constraints and </a:t>
            </a:r>
          </a:p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difficulty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15F8A1-F981-331D-495D-0C35EE279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0" y="3008620"/>
            <a:ext cx="4399272" cy="1887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4488561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Bias &amp; Coverage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Tribune Article Distribution (15,247 articles)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950268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Coverage: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2019 (2,850 articles)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dip: 2020 (1,500 articles)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Recovery: 2022 (1,900 articles)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crime: r ≈ 0.48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66699" y="1804924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Frequency: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'police': 8,934 mentions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'shooting': 6,421 mentions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'arrest': 5,823 mentions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'murder': 4,856 mentions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66700" y="2950151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Media Biases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700" y="3166994"/>
            <a:ext cx="8610600" cy="925711"/>
          </a:xfrm>
          <a:prstGeom prst="roundRect">
            <a:avLst>
              <a:gd name="adj" fmla="val 3413"/>
            </a:avLst>
          </a:prstGeom>
          <a:solidFill>
            <a:srgbClr val="FFE6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0988" y="3166995"/>
            <a:ext cx="0" cy="904668"/>
          </a:xfrm>
          <a:prstGeom prst="line">
            <a:avLst/>
          </a:prstGeom>
          <a:noFill/>
          <a:ln w="2857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525" y="3243194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Violent Crime Over-Representation: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0525" y="3405119"/>
            <a:ext cx="83915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articles cover violent crimes (only 15% of actual incidents)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Homicide: 18.2% linkage rate (highest media coverage)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Theft: 2.1% linkage rate (lowest coverage)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South/West Side: 3x more coverage than North Side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" y="4188217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0988" y="4188217"/>
            <a:ext cx="0" cy="2667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25" y="4264417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 Mean polarity -0.053 (slightly negative), predominantly neutral-factual reporting. Sensational language appears in 23% of violent crime articles vs 8% property crime coverage.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6700" y="4502542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80988" y="4502542"/>
            <a:ext cx="0" cy="266700"/>
          </a:xfrm>
          <a:prstGeom prst="line">
            <a:avLst/>
          </a:prstGeom>
          <a:noFill/>
          <a:ln w="28575">
            <a:solidFill>
              <a:srgbClr val="FF5F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525" y="4578742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Media bias creates public perception mismatch—citizens believe violent crime dominates when property crimes are 4x more frequent statistically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EF34C0-2D74-C14B-8EF3-BEC1D085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712" y="683413"/>
            <a:ext cx="5152588" cy="2327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5256086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Baseline: Arrest Prediction Models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53340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5334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89535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classification: Will a reported crime result in arrest?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90525" y="10287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Demonstrate ML achieves high accuracy but limited interpretability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6700" y="131445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Class Balancing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700" y="1531293"/>
            <a:ext cx="861060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Hour, DayOfWeek, Month, Season | Spatial: District, Ward, CTA/Police distance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Categorical: Primary Type, Location Type | Encoding: OneHot + StandardScaler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class distribution: 84.4% No Arrest, 15.6% Arrest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SMOTE (Synthetic Minority Oversampling) to balance training data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6700" y="2263684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0988" y="4453028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Feature Importance (Top 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0988" y="4669871"/>
            <a:ext cx="8610600" cy="36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Primary Type: Narcotics (0.18) | 2. Weapons Violation (0.14)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Hour 14-18 (0.11) | 4. District 11 (0.09) | 5. Location: Street (0.08)</a:t>
            </a:r>
            <a:endParaRPr lang="en-US" sz="8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F424F-2E56-CAE5-B1F8-661BECA676A6}"/>
              </a:ext>
            </a:extLst>
          </p:cNvPr>
          <p:cNvSpPr txBox="1"/>
          <p:nvPr/>
        </p:nvSpPr>
        <p:spPr>
          <a:xfrm>
            <a:off x="195549" y="2398222"/>
            <a:ext cx="8667463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Logistic Regression: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Strong baseline; good precision but struggles with non-linear crime patterns.</a:t>
            </a:r>
          </a:p>
          <a:p>
            <a:pPr lvl="1"/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Random Forest: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Higher recall for arrest cases; captures complex interactions between time, location, and crime type.</a:t>
            </a:r>
          </a:p>
          <a:p>
            <a:pPr lvl="1"/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XGBoost: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50" b="1" dirty="0">
                <a:latin typeface="Arial" panose="020B0604020202020204" pitchFamily="34" charset="0"/>
                <a:cs typeface="Arial" panose="020B0604020202020204" pitchFamily="34" charset="0"/>
              </a:rPr>
              <a:t>Best overall performer</a:t>
            </a: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 with highest AUC-ROC and balanced precision/recall.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Handles sparse, high-dimensional categorical encodings effectively.</a:t>
            </a:r>
            <a:b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850" b="1" u="sng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Arrest likelihood is influenced by crime type, location context, and time-of-day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Narcotics and weapons-related crimes show significantly higher arrest rates than property crimes.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Spatial features (Districts, CTA/Police proximity) meaningfully enhance predictive accuracy.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Even with strong accuracy, traditional models cannot explain narrative drivers behind predictions thus motivating the shift to RAG-based interpretability.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703695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Interpretability Gap: What ML Cannot Explain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400050"/>
          </a:xfrm>
          <a:prstGeom prst="roundRect">
            <a:avLst>
              <a:gd name="adj" fmla="val 952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40005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Prediction Example: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89535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narcotics incident in District 11 on Friday afternoon has 82% arrest probability'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" y="11811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Questions ML Cannot Answer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1397943"/>
            <a:ext cx="8610600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District 11 have higher arrest rates than District 6?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recent policy changes affect enforcement patterns?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community factors contribute to narcotics prevalence in this area?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did arrest rates in District 11 start increasing?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disparities reflect legitimate enforcement differences or systemic bias?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66700" y="2469356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Analysis 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700" y="2686199"/>
            <a:ext cx="8610600" cy="1185714"/>
          </a:xfrm>
          <a:prstGeom prst="roundRect">
            <a:avLst>
              <a:gd name="adj" fmla="val 32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80988" y="2686199"/>
            <a:ext cx="0" cy="1185714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0525" y="2790974"/>
            <a:ext cx="839152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advanced interpretability tools like SHAP show feature contributions but CANNOT: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features to real-world events (policy changes, community initiatives)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temporal evolution (why patterns changed 2022→2023)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contextual narrative (socioeconomic factors, resource allocation)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actionable interventions beyond feature manipulation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6700" y="3919537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E6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0988" y="3919537"/>
            <a:ext cx="0" cy="266700"/>
          </a:xfrm>
          <a:prstGeom prst="line">
            <a:avLst/>
          </a:prstGeom>
          <a:noFill/>
          <a:ln w="2857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525" y="3995738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Feature importance shows WHAT matters, but not WHY it matters or HOW to act on it. Policymakers need context, not coefficients.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6700" y="4233863"/>
            <a:ext cx="8610600" cy="40005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0988" y="4233863"/>
            <a:ext cx="0" cy="40005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0525" y="4310063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0525" y="4443413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Intelligence bridges this gap by integrating quantitative patterns with qualitative context from news coverage, creating human-readable explanations that enable informed decision-making.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4906328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Hybrid RAG Architecture</a:t>
            </a:r>
            <a:endParaRPr lang="en-US" sz="2100" dirty="0"/>
          </a:p>
        </p:txBody>
      </p:sp>
      <p:pic>
        <p:nvPicPr>
          <p:cNvPr id="4" name="Image 0" descr="/tmp/rasterized-gradient-f40362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85801"/>
            <a:ext cx="3860683" cy="12361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5" name="Text 2"/>
          <p:cNvSpPr/>
          <p:nvPr/>
        </p:nvSpPr>
        <p:spPr>
          <a:xfrm>
            <a:off x="361950" y="752475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Semantic Retrieval (Embedding-Based)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1950" y="914400"/>
            <a:ext cx="8420100" cy="11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Model: SentenceTransformer (all-MiniLM-L6-v2)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384-dim dense vectors, 22M parameters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Training: Contrastive learning on 1B sentence pairs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Index: FAISS IndexFlatL2 (exact L2 distance)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Crime index: 142,635 vectors (218 MB) | News: 15,247 vectors (32 MB)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Search latency: 0.14s for top-5 from both indices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7640" y="2002928"/>
            <a:ext cx="39597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2800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600" dirty="0"/>
          </a:p>
        </p:txBody>
      </p:sp>
      <p:pic>
        <p:nvPicPr>
          <p:cNvPr id="8" name="Image 1" descr="/tmp/rasterized-gradient-178b6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2331211"/>
            <a:ext cx="3860683" cy="11745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950" y="239788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Deterministic Linking (Rule-Based)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61950" y="252171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4-step filter pipeline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61950" y="264553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±3 days from crime date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1950" y="276936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Keyword: Crime type token in news text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61950" y="289318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Block/street name overlap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1950" y="301701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High-confidence crime-news links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61950" y="314083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68,423 links created (4.5% linkage rate)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61950" y="326466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Homicide: 18.2% linked | Theft: 2.1% linked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80594" y="3589490"/>
            <a:ext cx="39467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2800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pic>
        <p:nvPicPr>
          <p:cNvPr id="18" name="Image 2" descr="/tmp/rasterized-gradient-944c9e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3879673"/>
            <a:ext cx="3860683" cy="10712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1950" y="402699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LLM Narrative Generation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361950" y="415081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Google Gemini (gemini-pro-latest)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361950" y="427464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Temp 0.3 (factual), Max tokens 500, Top-p 0.9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1950" y="439846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Crime chunks + News chunks + Deterministic links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361950" y="452229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'Synthesize patterns, explain context, connect evidence'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361950" y="4646116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Contextual narrative answering user query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361950" y="4769941"/>
            <a:ext cx="8588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75"/>
              </a:spcBef>
              <a:spcAft>
                <a:spcPts val="75"/>
              </a:spcAft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2.1s avg (total end-to-end: 2.6s)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26" name="image1.png">
            <a:extLst>
              <a:ext uri="{FF2B5EF4-FFF2-40B4-BE49-F238E27FC236}">
                <a16:creationId xmlns:a16="http://schemas.microsoft.com/office/drawing/2014/main" id="{64EA6894-D656-66A8-B2B7-A42B98DF2EE2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938406" y="618021"/>
            <a:ext cx="3849323" cy="2305862"/>
          </a:xfrm>
          <a:prstGeom prst="rect">
            <a:avLst/>
          </a:prstGeom>
          <a:ln/>
        </p:spPr>
      </p:pic>
      <p:pic>
        <p:nvPicPr>
          <p:cNvPr id="27" name="image2.png">
            <a:extLst>
              <a:ext uri="{FF2B5EF4-FFF2-40B4-BE49-F238E27FC236}">
                <a16:creationId xmlns:a16="http://schemas.microsoft.com/office/drawing/2014/main" id="{8355AAEF-EC03-7025-C104-88023D1465F0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4938406" y="2893186"/>
            <a:ext cx="3860683" cy="2224998"/>
          </a:xfrm>
          <a:prstGeom prst="rect">
            <a:avLst/>
          </a:prstGeom>
          <a:ln/>
        </p:spPr>
      </p:pic>
      <p:sp>
        <p:nvSpPr>
          <p:cNvPr id="28" name="Flowchart: Manual Operation 27">
            <a:extLst>
              <a:ext uri="{FF2B5EF4-FFF2-40B4-BE49-F238E27FC236}">
                <a16:creationId xmlns:a16="http://schemas.microsoft.com/office/drawing/2014/main" id="{2199DC80-96E3-4158-8BE4-B412757EAA44}"/>
              </a:ext>
            </a:extLst>
          </p:cNvPr>
          <p:cNvSpPr/>
          <p:nvPr/>
        </p:nvSpPr>
        <p:spPr>
          <a:xfrm rot="16200000">
            <a:off x="2460252" y="2742911"/>
            <a:ext cx="4251004" cy="165004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315075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Chunking Strategy: Memory Optimization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400050"/>
          </a:xfrm>
          <a:prstGeom prst="roundRect">
            <a:avLst>
              <a:gd name="adj" fmla="val 9524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400050"/>
          </a:xfrm>
          <a:prstGeom prst="line">
            <a:avLst/>
          </a:prstGeom>
          <a:noFill/>
          <a:ln w="28575">
            <a:solidFill>
              <a:srgbClr val="FF5F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1.88M individual embeddings = 2.88 GB memory (infeasible)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89535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Aggregate into meaningful patterns while preserving essential information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" y="11811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Chunk Creation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1423110"/>
            <a:ext cx="8610600" cy="66675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80988" y="1423110"/>
            <a:ext cx="0" cy="66675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0525" y="149931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Logic: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0525" y="163266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by: [Primary Type + Normalized Block + Date]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0525" y="176601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threshold: ≥5 incidents per group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0525" y="189936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'THEFT on 003XX N STATE ST on 2023-07-15' (8 incidents, 1 arrest)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6700" y="2285778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1.88M records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142,635 chunks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Compression: 92% reduction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147 MB JSONL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19625" y="2285778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efficient: 2.1 GB peak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Pattern-focused retrieval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temporal/spatial context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streaming processing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6700" y="3312537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Chunk Creation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700" y="3596492"/>
            <a:ext cx="8610600" cy="5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One article = One chunk (Title + Full Text truncated to 1500 chars)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15,247 news chunks (68 MB JSONL)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 rationale: Balance context vs token efficiency for embeddings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66700" y="4390744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80988" y="4390744"/>
            <a:ext cx="0" cy="2667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0525" y="4466944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Efficiency: JSONL streaming architecture—never load all chunks into RAM simultaneously. Load only retrieved chunks on-demand (0.22s latency).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460808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Linking: Explainable Connections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26670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Establish high-confidence, explainable crime-news connections using rule-based matching (NOT embedding similarity)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66700" y="104775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700" y="1312218"/>
            <a:ext cx="4257675" cy="138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1000" b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Temporal Filter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Window: crime_date ± 3 days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News lag 1-2 days</a:t>
            </a: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endParaRPr lang="en-US" sz="1000" dirty="0"/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1000" b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Keyword Match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crime type token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 news title+text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Case-insensitive matching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9625" y="1312218"/>
            <a:ext cx="4257675" cy="138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1000" b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Location Overlap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block names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street/avenue words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≥1 word match</a:t>
            </a:r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endParaRPr lang="en-US" sz="1000" dirty="0"/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1000" b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Link Record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crime_id, news_id, date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links.jsonl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0988" y="2812212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Linkage Results by Crime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700" y="4300618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80988" y="4300618"/>
            <a:ext cx="0" cy="266700"/>
          </a:xfrm>
          <a:prstGeom prst="line">
            <a:avLst/>
          </a:prstGeom>
          <a:noFill/>
          <a:ln w="2857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0525" y="4376818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Violent crimes show 5-10x higher linkage rates, empirically confirming media bias toward sensational incidents over property crimes.</a:t>
            </a:r>
            <a:endParaRPr lang="en-US" sz="90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C373B44E-21C3-472B-95D9-1EBD3E17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999061"/>
            <a:ext cx="278689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Homicide: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18.2% (highest media visibility)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Robbery: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7.8%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Assault/Battery: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6.4%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Theft: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Criminal Damage: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1.8% (lowest coverage)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D1838A9-0BC6-6103-AEF3-49815B0701E2}"/>
              </a:ext>
            </a:extLst>
          </p:cNvPr>
          <p:cNvSpPr/>
          <p:nvPr/>
        </p:nvSpPr>
        <p:spPr>
          <a:xfrm>
            <a:off x="4633913" y="2812212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Linkage Outcomes</a:t>
            </a:r>
            <a:endParaRPr lang="en-US" sz="1200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AD907AEC-1A96-ACE2-D8AD-4370DF2E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9061"/>
            <a:ext cx="349820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Linked Pairs: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68,423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crime–news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Linkage Rate: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4.5%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all crime incidents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(expected due to narrow rule-based matching)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344221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Query Process: Five-Step Pipeline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266700"/>
          </a:xfrm>
          <a:prstGeom prst="line">
            <a:avLst/>
          </a:prstGeom>
          <a:noFill/>
          <a:ln w="28575">
            <a:solidFill>
              <a:srgbClr val="FF5F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Query: 'What crime patterns emerged in District 8 during summer 2023?'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6700" y="1000125"/>
            <a:ext cx="8610600" cy="53340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988" y="1000125"/>
            <a:ext cx="0" cy="5334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0525" y="1076325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Query Embedding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0525" y="1209675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user query to 384-dim vector using SentenceTransformer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0525" y="1343025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query_vector = model.encode(['What crime patterns...'])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6700" y="1581150"/>
            <a:ext cx="8610600" cy="1001911"/>
          </a:xfrm>
          <a:prstGeom prst="roundRect">
            <a:avLst>
              <a:gd name="adj" fmla="val 34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0988" y="1581151"/>
            <a:ext cx="0" cy="1011436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25" y="165735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Parallel Semantic 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0525" y="1819275"/>
            <a:ext cx="83915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both FAISS indices simultaneously:</a:t>
            </a:r>
            <a:endParaRPr lang="en-US" sz="900" dirty="0"/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index: top-5 most similar crime chunks (L2 distance)</a:t>
            </a:r>
            <a:endParaRPr lang="en-US" sz="900" dirty="0"/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index: top-5 most similar news articles</a:t>
            </a:r>
            <a:endParaRPr lang="en-US" sz="900" dirty="0"/>
          </a:p>
          <a:p>
            <a:pPr algn="l">
              <a:lnSpc>
                <a:spcPts val="1073"/>
              </a:lnSpc>
              <a:spcAft>
                <a:spcPts val="225"/>
              </a:spcAft>
              <a:buSzPct val="100000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10 indices + similarity scores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6700" y="2744986"/>
            <a:ext cx="8610600" cy="53340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80988" y="2744986"/>
            <a:ext cx="0" cy="5334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0525" y="282118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Chunk Loading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0525" y="295453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Stream-load only retrieved chunks from JSONL files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525" y="308788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Memory-efficient: Load &lt;10 chunks, not entire dataset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6700" y="3326011"/>
            <a:ext cx="8610600" cy="53340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80988" y="3326011"/>
            <a:ext cx="0" cy="5334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0525" y="340221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Link Loading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0525" y="353556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first 20 deterministic links from links.jsonl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0525" y="366891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high-confidence crime-news connections for context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6700" y="3907036"/>
            <a:ext cx="8610600" cy="53340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80988" y="3907036"/>
            <a:ext cx="0" cy="5334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0525" y="398323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LLM Synthesis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0525" y="411658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prompt: Query + Crime chunks + News + Links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0525" y="424993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generates narrative (temp=0.3, max_tokens=500)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6700" y="4488061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80988" y="4488061"/>
            <a:ext cx="0" cy="26670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0525" y="456426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Latency: 2.6s end-to-end (0.50s retrieval + 2.1s LLM)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888290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Analysis: ML vs Narrative Intelligence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80988" y="685800"/>
            <a:ext cx="0" cy="266700"/>
          </a:xfrm>
          <a:prstGeom prst="line">
            <a:avLst/>
          </a:prstGeom>
          <a:noFill/>
          <a:ln w="28575">
            <a:solidFill>
              <a:srgbClr val="FF5F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525" y="762000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'Why do arrest rates vary across districts?'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6700" y="1098084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Response (XGBoost + SHAP)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700" y="1340094"/>
            <a:ext cx="8610600" cy="1185714"/>
          </a:xfrm>
          <a:prstGeom prst="roundRect">
            <a:avLst>
              <a:gd name="adj" fmla="val 32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0988" y="1340094"/>
            <a:ext cx="0" cy="1185714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525" y="1444869"/>
            <a:ext cx="839152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Importance: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11: +0.12 SHAP value (highest)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8: +0.09 | District 6: +0.07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'District 11 crimes are 12% more likely to result in arrest.'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 WHY District 11 differs, WHAT changed over time, HOW resources allocated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6700" y="2839171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Intelligence Response (Hybrid RAG)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700" y="3081181"/>
            <a:ext cx="8610600" cy="762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0988" y="3081181"/>
            <a:ext cx="0" cy="7620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25" y="3157381"/>
            <a:ext cx="855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11 (West Chicago): 22.3% arrest rate driven by narcotics offenses (95% arrest probability). Tribune (June 2023) reported additional narcotics task force deployment following community complaints about open-air drug markets near Pulaski Park. Temporal increase: 18.1% (2022) → 22.3% (2023).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0525" y="3405031"/>
            <a:ext cx="855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8 (South Chicago): 17.8% arrest rate despite high volume (119K incidents). Property crimes dominate (theft 42%, criminal damage 23%), which show low clearance rates (14-16%) due to investigative resource constraints.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0525" y="365268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6 (Southwest Chicago): 15.2% arrest rate correlates with commercial theft. Tribune notes District 6 prioritizes response time over arrest rates per community preference.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6700" y="4142476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FF3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0988" y="4142476"/>
            <a:ext cx="0" cy="266700"/>
          </a:xfrm>
          <a:prstGeom prst="line">
            <a:avLst/>
          </a:prstGeom>
          <a:noFill/>
          <a:ln w="2857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0525" y="421867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Narrative system provides CONTEXT enabling policy discussions, resource allocation decisions, community engagement, and bias detection—not just accuracy.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6451092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 Evaluation: Retrieval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Framework: RAGEvaluator Module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902643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80988" y="902643"/>
            <a:ext cx="0" cy="26670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0525" y="978843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Retrieval diversity, temporal-spatial coverage, answer specificity, context utilization, faithfulness to evidence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6700" y="1264593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Quality Metrics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1529060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Retrieval: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docs retrieved: 8.7 (range: 6-10)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diversity: 100% (unique sources)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coverage: 3-5 unique dates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coverage: Multiple city blocks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9625" y="1529060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Observed: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Crime-type diversity: 20-30%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focuses on dominant category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span adequate but could expand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references comprehensive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6700" y="2648099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Comparison: Hybrid vs Alternatives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700" y="3731716"/>
            <a:ext cx="8610600" cy="913358"/>
          </a:xfrm>
          <a:prstGeom prst="roundRect">
            <a:avLst>
              <a:gd name="adj" fmla="val 4171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0988" y="3731716"/>
            <a:ext cx="0" cy="91335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525" y="3807916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0525" y="3969841"/>
            <a:ext cx="8391525" cy="5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54% precision gain over embeddings-only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80% reduction in hallucinations vs zero-shot LLM</a:t>
            </a:r>
            <a:endParaRPr lang="en-US" sz="9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 combines strengths: semantic flexibility + deterministic precision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29CDC8-516A-5FC7-B47E-EEF08A50B167}"/>
              </a:ext>
            </a:extLst>
          </p:cNvPr>
          <p:cNvSpPr txBox="1"/>
          <p:nvPr/>
        </p:nvSpPr>
        <p:spPr>
          <a:xfrm>
            <a:off x="266700" y="2864941"/>
            <a:ext cx="79486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Hybrid system strengthens retrieval by combining semantic embeddings with deterministic rule-based filters (time, keywords, location).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Ensures retrieved documents remain topically aligned, temporally relevant, and geographically connected to the query.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Reduces noise commonly seen in embeddings-only systems, which can bring in off-topic or weakly related articles.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Produces higher-quality evidence for generation, directly improving faithfulness, specificity, and context utilization.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8005572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 Evaluation: Generation Quality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Quality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4325" y="959792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Structure: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length: 380 words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facts: 5-9 per response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references: Multiple per query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indicators: Clear date/period refs</a:t>
            </a:r>
            <a:endParaRPr lang="en-US" sz="1000" b="1" dirty="0"/>
          </a:p>
        </p:txBody>
      </p:sp>
      <p:sp>
        <p:nvSpPr>
          <p:cNvPr id="6" name="Text 4"/>
          <p:cNvSpPr/>
          <p:nvPr/>
        </p:nvSpPr>
        <p:spPr>
          <a:xfrm>
            <a:off x="4667822" y="957891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Grounding: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utilization: 45-59%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Faithfulness: 75-100% (avg 78.3%)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response: 0% unsupported claims</a:t>
            </a:r>
            <a:endParaRPr lang="en-US" sz="1000" b="1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coherence: High consistency</a:t>
            </a:r>
            <a:endParaRPr lang="en-US" sz="1000" b="1" dirty="0"/>
          </a:p>
        </p:txBody>
      </p:sp>
      <p:sp>
        <p:nvSpPr>
          <p:cNvPr id="7" name="Text 5"/>
          <p:cNvSpPr/>
          <p:nvPr/>
        </p:nvSpPr>
        <p:spPr>
          <a:xfrm>
            <a:off x="266700" y="2032779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Performance: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700" y="3524399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 (Runtime)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700" y="3741241"/>
            <a:ext cx="8610600" cy="5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embedding: 0.03s | FAISS search: 0.14s | Chunk loading: 0.22s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loading: 0.11s | Retrieval total: 0.50s | Gemini API: 2.1s avg</a:t>
            </a:r>
            <a:endParaRPr lang="en-US" sz="1000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latency: 2.6s (suitable for interactive applications)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6700" y="4359325"/>
            <a:ext cx="8610600" cy="381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80988" y="4359325"/>
            <a:ext cx="0" cy="38100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0525" y="4435525"/>
            <a:ext cx="855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Current 157K vectors (242 MB). Projected 10x scale: 1.57M vectors (2.42 GB) feasible on single consumer GPU (16GB VRAM). For larger datasets, </a:t>
            </a:r>
          </a:p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 reduces search to O(log n).</a:t>
            </a:r>
            <a:endParaRPr lang="en-US" sz="9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5ED647B-D000-F1CA-B4E9-B09852A5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2183185"/>
            <a:ext cx="86106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system build completed in roughly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59 minutes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covering crime/news ingestion, chunking, embedding generation, and FAISS index creation.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peak: 2.8 GB, indicating efficient resource usage well within academic and cloud deployment limits.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+ news datasets compressed into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157k embedding vectors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achieving 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92% reduction from raw text volume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crime–news linking produced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68k high-confidence matches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strong factual grounding for narrative responses.</a:t>
            </a:r>
          </a:p>
          <a:p>
            <a:pPr marL="171450" marR="0" lvl="0" indent="-1714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RAG-LLM evaluation yielded an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83.84% composite system score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strong performance across retrieval quality, evidence grounding, faithfulness, and narrative coherence.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71450"/>
            <a:ext cx="8610600" cy="4191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247650"/>
            <a:ext cx="4401122" cy="266700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Impact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66700" y="685800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902643"/>
            <a:ext cx="8610600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validation: ML achieves 77% accuracy but minimal interpretability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architecture: First hybrid RAG for crime narrative intelligence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implementation: 1.88M+ records on consumer hardware (2.8 GB peak)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insights: Transforms data into human-readable narratives for non-technical stakeholders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Generalizable framework: Applicable to healthcare, finance, education domains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66700" y="1926431"/>
            <a:ext cx="8610600" cy="266700"/>
          </a:xfrm>
          <a:prstGeom prst="roundRect">
            <a:avLst>
              <a:gd name="adj" fmla="val 1428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80988" y="1926431"/>
            <a:ext cx="0" cy="2667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0525" y="2002631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Innovation: Narrative intelligence represents fundamental evolution—from 'what will happen' (ML prediction) to 'why it happens and what it means' (contextual explanation)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6700" y="2288381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Impact: Democratizing Urban 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700" y="2552849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Policymakers: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decisions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justification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detection mechanisms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impact assessment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19625" y="2552849"/>
            <a:ext cx="4257675" cy="97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Communities: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neighborhood insights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enforcement patterns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trust building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civic engagement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" y="3671888"/>
            <a:ext cx="4401122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Bef>
                <a:spcPts val="750"/>
              </a:spcBef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FF5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700" y="3888730"/>
            <a:ext cx="8610600" cy="5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Technical: Cross-encoder reranking, temporal decay in embeddings, causal inference layer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Integrate economic indicators, weather data, social media, 311 service requests</a:t>
            </a:r>
            <a:endParaRPr lang="en-US" sz="825" dirty="0"/>
          </a:p>
          <a:p>
            <a:pPr marL="342900" indent="-342900" algn="l">
              <a:lnSpc>
                <a:spcPts val="1073"/>
              </a:lnSpc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 Real-time crime alerts, policy simulation ('what-if' scenarios), predictive policing with explanations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6700" y="4506813"/>
            <a:ext cx="8610600" cy="40005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0988" y="4506813"/>
            <a:ext cx="0" cy="400050"/>
          </a:xfrm>
          <a:prstGeom prst="line">
            <a:avLst/>
          </a:prstGeom>
          <a:noFill/>
          <a:ln w="2857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525" y="4583013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Reflection: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0525" y="4716363"/>
            <a:ext cx="8559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AI advances, the critical frontier is not higher accuracy but better communication. Narrative intelligence bridges what models know to why it matters.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CEBFA-7D2B-A9C7-92BA-F9F045B6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7" y="1843"/>
            <a:ext cx="9141713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/tmp/rasterized-gradient-e66cb115.png">
            <a:extLst>
              <a:ext uri="{FF2B5EF4-FFF2-40B4-BE49-F238E27FC236}">
                <a16:creationId xmlns:a16="http://schemas.microsoft.com/office/drawing/2014/main" id="{BFFD6555-6790-94DD-DC82-4AE969B5BA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13135" r="17555"/>
          <a:stretch>
            <a:fillRect/>
          </a:stretch>
        </p:blipFill>
        <p:spPr>
          <a:xfrm>
            <a:off x="-126" y="10"/>
            <a:ext cx="5931144" cy="514349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833F03-CEAE-AB4E-A79C-595BA53EFD9B}"/>
              </a:ext>
            </a:extLst>
          </p:cNvPr>
          <p:cNvSpPr/>
          <p:nvPr/>
        </p:nvSpPr>
        <p:spPr>
          <a:xfrm>
            <a:off x="845247" y="2125948"/>
            <a:ext cx="3465438" cy="887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1350"/>
              </a:spcAft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5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 descr="An Easy Introduction to Multimodal Retrieval-Augmented Generation | NVIDIA  Technical Blog">
            <a:extLst>
              <a:ext uri="{FF2B5EF4-FFF2-40B4-BE49-F238E27FC236}">
                <a16:creationId xmlns:a16="http://schemas.microsoft.com/office/drawing/2014/main" id="{BF221DCD-1001-A2AD-CEB4-31CCE59FE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0" r="33502"/>
          <a:stretch>
            <a:fillRect/>
          </a:stretch>
        </p:blipFill>
        <p:spPr bwMode="auto">
          <a:xfrm>
            <a:off x="4669497" y="-1843"/>
            <a:ext cx="4472089" cy="5143499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44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3220</Words>
  <Application>Microsoft Office PowerPoint</Application>
  <PresentationFormat>On-screen Show (16:9)</PresentationFormat>
  <Paragraphs>380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Analysis Presentation - Enhanced</dc:title>
  <dc:subject>IS597 Machine Learning Cloud - Final Report</dc:subject>
  <dc:creator>Group 6</dc:creator>
  <cp:lastModifiedBy>Acharya, Praveena Palani</cp:lastModifiedBy>
  <cp:revision>24</cp:revision>
  <dcterms:created xsi:type="dcterms:W3CDTF">2025-12-05T01:55:26Z</dcterms:created>
  <dcterms:modified xsi:type="dcterms:W3CDTF">2025-12-05T04:52:48Z</dcterms:modified>
</cp:coreProperties>
</file>